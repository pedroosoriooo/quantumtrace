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e811d4a3034518" /><Relationship Type="http://schemas.openxmlformats.org/officeDocument/2006/relationships/extended-properties" Target="/docProps/app.xml" Id="R9031fab1ebf54d36" /><Relationship Type="http://schemas.openxmlformats.org/officeDocument/2006/relationships/officeDocument" Target="/ppt/presentation.xml" Id="R75fafb6d850849a8" /></Relationships>
</file>

<file path=ppt/presentation.xml><?xml version="1.0" encoding="utf-8"?>
<p:presentation xmlns:p="http://schemas.openxmlformats.org/presentationml/2006/main">
  <p:sldMasterIdLst>
    <p:sldMasterId xmlns:r="http://schemas.openxmlformats.org/officeDocument/2006/relationships" id="2147483648" r:id="R4e19d7d21fee4607"/>
  </p:sldMasterIdLst>
  <p:notesMasterIdLst>
    <p:notesMasterId xmlns:r="http://schemas.openxmlformats.org/officeDocument/2006/relationships" r:id="Rd48f1cedcfef4140"/>
  </p:notesMasterIdLst>
  <p:sldIdLst>
    <p:sldId xmlns:r="http://schemas.openxmlformats.org/officeDocument/2006/relationships" id="256" r:id="Rc2a17c57e8e74dae"/>
    <p:sldId xmlns:r="http://schemas.openxmlformats.org/officeDocument/2006/relationships" id="257" r:id="R3eb3d19d8d6d4efb"/>
    <p:sldId xmlns:r="http://schemas.openxmlformats.org/officeDocument/2006/relationships" id="258" r:id="Raf60f55ea89649b3"/>
    <p:sldId xmlns:r="http://schemas.openxmlformats.org/officeDocument/2006/relationships" id="259" r:id="Rf78f02e541c346ba"/>
    <p:sldId xmlns:r="http://schemas.openxmlformats.org/officeDocument/2006/relationships" id="260" r:id="Re5d5ddaf71c040a7"/>
    <p:sldId xmlns:r="http://schemas.openxmlformats.org/officeDocument/2006/relationships" id="261" r:id="R219871776f1a479d"/>
    <p:sldId xmlns:r="http://schemas.openxmlformats.org/officeDocument/2006/relationships" id="262" r:id="R0d0f2f22d5594333"/>
    <p:sldId xmlns:r="http://schemas.openxmlformats.org/officeDocument/2006/relationships" id="263" r:id="Re924479597224d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6165579eb447c9" /><Relationship Type="http://schemas.openxmlformats.org/officeDocument/2006/relationships/slideMaster" Target="/ppt/slideMasters/slideMaster1.xml" Id="R4e19d7d21fee4607" /><Relationship Type="http://schemas.openxmlformats.org/officeDocument/2006/relationships/notesMaster" Target="/ppt/notesMasters/notesMaster1.xml" Id="Rd48f1cedcfef4140" /><Relationship Type="http://schemas.openxmlformats.org/officeDocument/2006/relationships/presProps" Target="/ppt/presProps.xml" Id="R6bc284ae00ff4be1" /><Relationship Type="http://schemas.openxmlformats.org/officeDocument/2006/relationships/tableStyles" Target="/ppt/tableStyles.xml" Id="R1881823ab4bc4ef2" /><Relationship Type="http://schemas.openxmlformats.org/officeDocument/2006/relationships/slide" Target="/ppt/slides/slide1.xml" Id="Rc2a17c57e8e74dae" /><Relationship Type="http://schemas.openxmlformats.org/officeDocument/2006/relationships/slide" Target="/ppt/slides/slide2.xml" Id="R3eb3d19d8d6d4efb" /><Relationship Type="http://schemas.openxmlformats.org/officeDocument/2006/relationships/slide" Target="/ppt/slides/slide3.xml" Id="Raf60f55ea89649b3" /><Relationship Type="http://schemas.openxmlformats.org/officeDocument/2006/relationships/slide" Target="/ppt/slides/slide4.xml" Id="Rf78f02e541c346ba" /><Relationship Type="http://schemas.openxmlformats.org/officeDocument/2006/relationships/slide" Target="/ppt/slides/slide5.xml" Id="Re5d5ddaf71c040a7" /><Relationship Type="http://schemas.openxmlformats.org/officeDocument/2006/relationships/slide" Target="/ppt/slides/slide6.xml" Id="R219871776f1a479d" /><Relationship Type="http://schemas.openxmlformats.org/officeDocument/2006/relationships/slide" Target="/ppt/slides/slide7.xml" Id="R0d0f2f22d5594333" /><Relationship Type="http://schemas.openxmlformats.org/officeDocument/2006/relationships/slide" Target="/ppt/slides/slide8.xml" Id="Re924479597224d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cf127dc1534b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f0f3558d944445" /><Relationship Type="http://schemas.openxmlformats.org/officeDocument/2006/relationships/notesMaster" Target="/ppt/notesMasters/notesMaster1.xml" Id="Rd9b91b4402e449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03c70d2af44b94" /><Relationship Type="http://schemas.openxmlformats.org/officeDocument/2006/relationships/notesMaster" Target="/ppt/notesMasters/notesMaster1.xml" Id="Rbdf809b7d7a248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3266410769422b" /><Relationship Type="http://schemas.openxmlformats.org/officeDocument/2006/relationships/notesMaster" Target="/ppt/notesMasters/notesMaster1.xml" Id="R7612ca8e4baa46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e9b24183e14ebe" /><Relationship Type="http://schemas.openxmlformats.org/officeDocument/2006/relationships/notesMaster" Target="/ppt/notesMasters/notesMaster1.xml" Id="Rb61e0c2c897d40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41aafa17a941b7" /><Relationship Type="http://schemas.openxmlformats.org/officeDocument/2006/relationships/notesMaster" Target="/ppt/notesMasters/notesMaster1.xml" Id="R6a7aff36be3546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5223ebb0164b33" /><Relationship Type="http://schemas.openxmlformats.org/officeDocument/2006/relationships/notesMaster" Target="/ppt/notesMasters/notesMaster1.xml" Id="R6fe66036a1924d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1b66e086064a85" /><Relationship Type="http://schemas.openxmlformats.org/officeDocument/2006/relationships/notesMaster" Target="/ppt/notesMasters/notesMaster1.xml" Id="R86e7e87257de4c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2e0f3f2d7d482d" /><Relationship Type="http://schemas.openxmlformats.org/officeDocument/2006/relationships/notesMaster" Target="/ppt/notesMasters/notesMaster1.xml" Id="Rd6fffc1520c040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Show slide 1. Introduce the project and the inventory problem.</a:t>
            </a:r>
          </a:p>
          <a:p xmlns:a="http://schemas.openxmlformats.org/drawingml/2006/main">
            <a:r>
              <a:t/>
            </a:r>
          </a:p>
          <a:p xmlns:a="http://schemas.openxmlformats.org/drawingml/2006/main">
            <a:r>
              <a:t>SPOKEN SCRIPT</a:t>
            </a:r>
          </a:p>
          <a:p xmlns:a="http://schemas.openxmlformats.org/drawingml/2006/main">
            <a:r>
              <a:t>Hi, I'm Pedro from Hidden Signal. Before planning a post-quantum migration, an organisation needs to know where it uses cryptography. QuantumTrace inspects source code, cloud configurations and TLS captures, and connects each finding to evidence that a reviewer can check.</a:t>
            </a:r>
          </a:p>
          <a:p xmlns:a="http://schemas.openxmlformats.org/drawingml/2006/main">
            <a:r>
              <a:t/>
            </a:r>
          </a:p>
          <a:p xmlns:a="http://schemas.openxmlformats.org/drawingml/2006/main">
            <a:r>
              <a:t>Source: challenge brief supplied in the conversation; QuantumTrace README.md and POLICY.md, version 0.3.3.</a:t>
            </a:r>
          </a:p>
          <a:p xmlns:a="http://schemas.openxmlformats.org/drawingml/2006/main">
            <a:r>
              <a:t/>
            </a:r>
          </a:p>
          <a:p xmlns:a="http://schemas.openxmlformats.org/drawingml/2006/main">
            <a:r>
              <a:t>Decorative cover: AI-generated abstract artwork created for this deck. It is not a product screenshot or scientific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 Show slide 2. Point to the three input types and their different evidence status.</a:t>
            </a:r>
          </a:p>
          <a:p xmlns:a="http://schemas.openxmlformats.org/drawingml/2006/main">
            <a:r>
              <a:t/>
            </a:r>
          </a:p>
          <a:p xmlns:a="http://schemas.openxmlformats.org/drawingml/2006/main">
            <a:r>
              <a:t>SPOKEN SCRIPT</a:t>
            </a:r>
          </a:p>
          <a:p xmlns:a="http://schemas.openxmlformats.org/drawingml/2006/main">
            <a:r>
              <a:t>The engine recognises supported calls, configuration fields and handshake identifiers. It normalises these into a cryptographic inventory, then applies explicit assessment rules. Code and configuration show declarations or static calls. A capture can show selected mechanisms. Keeping those evidence types separate helps us explain what each result actually proves.</a:t>
            </a:r>
          </a:p>
          <a:p xmlns:a="http://schemas.openxmlformats.org/drawingml/2006/main">
            <a:r>
              <a:t/>
            </a:r>
          </a:p>
          <a:p xmlns:a="http://schemas.openxmlformats.org/drawingml/2006/main">
            <a:r>
              <a:t>Sources: quantumtrace/inventory.py, scanners.py, source_patterns.py, tls.py and cloud.py, version 0.3.3. Code is inspected passively. Coverage is limited to supported formats and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1:00-1:35. Show slide 3. Explain the 619 versus 955 split before discussing the index.</a:t>
            </a:r>
          </a:p>
          <a:p xmlns:a="http://schemas.openxmlformats.org/drawingml/2006/main">
            <a:r>
              <a:t/>
            </a:r>
          </a:p>
          <a:p xmlns:a="http://schemas.openxmlformats.org/drawingml/2006/main">
            <a:r>
              <a:t>SPOKEN SCRIPT</a:t>
            </a:r>
          </a:p>
          <a:p xmlns:a="http://schemas.openxmlformats.org/drawingml/2006/main">
            <a:r>
              <a:t>On the supplied synthetic data, the report contains 1,574 observations from 28 analysed files. The cards show 619 observations. Another 955 are TLS client offers, so they stay outside the index. The current index is 61.5. These numbers describe primitive occurrences. Repeated components affect the score, and it is not an attack probability.</a:t>
            </a:r>
          </a:p>
          <a:p xmlns:a="http://schemas.openxmlformats.org/drawingml/2006/main">
            <a:r>
              <a:t/>
            </a:r>
          </a:p>
          <a:p xmlns:a="http://schemas.openxmlformats.org/drawingml/2006/main">
            <a:r>
              <a:t>Sources: reports/report.json and VALIDATION.md, QuantumTrace 0.3.3. Counts: critical 238, medium 274, resilient 98, unknown 9, offers 955, analysed files 28, unsupported metadata 7. 610/619 = 98.5% classification coverage, not accuracy. (238*100+274*50)/610 rounds to 61.5.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1:35-4:10. Show slide 4 briefly, then Alt+Tab to the app. Scan challenge data and inspect an RSA declaration. Analyse the eight extra files and inspect the AES case with unknown key size. Analyse only 01_aes128.py, change token_bytes(16) to token_bytes(32), save, reselect the file and analyse again. Download JSON if time allows. Use a stored report if the capture scan takes too long. Return to slide 5.</a:t>
            </a:r>
          </a:p>
          <a:p xmlns:a="http://schemas.openxmlformats.org/drawingml/2006/main">
            <a:r>
              <a:t/>
            </a:r>
          </a:p>
          <a:p xmlns:a="http://schemas.openxmlformats.org/drawingml/2006/main">
            <a:r>
              <a:t>SPOKEN SCRIPT</a:t>
            </a:r>
          </a:p>
          <a:p xmlns:a="http://schemas.openxmlformats.org/drawingml/2006/main">
            <a:r>
              <a:t>I'm scanning the bundled challenge files again. The priority summary groups evidence and next steps by file or resource. Each result keeps a source location and a rule. This RSA declaration is critical because the classical public-key component is exposed to Shor.</a:t>
            </a:r>
          </a:p>
          <a:p xmlns:a="http://schemas.openxmlformats.org/drawingml/2006/main">
            <a:r>
              <a:t/>
            </a:r>
          </a:p>
          <a:p xmlns:a="http://schemas.openxmlformats.org/drawingml/2006/main">
            <a:r>
              <a:t>These eight additional files are our own synthetic examples. They produce nine observations. AESGCM tells us the cipher family, but this function does not tell us the key size. The tool asks us to establish it.</a:t>
            </a:r>
          </a:p>
          <a:p xmlns:a="http://schemas.openxmlformats.org/drawingml/2006/main">
            <a:r>
              <a:t/>
            </a:r>
          </a:p>
          <a:p xmlns:a="http://schemas.openxmlformats.org/drawingml/2006/main">
            <a:r>
              <a:t>Now I analyse just this file. Sixteen bytes means AES-128. I change sixteen to thirty-two, save and select the file again. The new analysis records AES-256. That changes the primitive's challenge tier. It does not certify the application.</a:t>
            </a:r>
          </a:p>
          <a:p xmlns:a="http://schemas.openxmlformats.org/drawingml/2006/main">
            <a:r>
              <a:t/>
            </a:r>
          </a:p>
          <a:p xmlns:a="http://schemas.openxmlformats.org/drawingml/2006/main">
            <a:r>
              <a:t>We can export the evidence as JSON, or keep an offline report. History lets us inspect previous runs.</a:t>
            </a:r>
          </a:p>
          <a:p xmlns:a="http://schemas.openxmlformats.org/drawingml/2006/main">
            <a:r>
              <a:t/>
            </a:r>
          </a:p>
          <a:p xmlns:a="http://schemas.openxmlformats.org/drawingml/2006/main">
            <a:r>
              <a:t>Sources: Preparacao/FICHEIROS_NOVOS, resultados_esperados.json and resultados/report.json, version 0.3.3. These are additional developer-created synthetic fixtures. Eight files yield nine observations, with 2 critical, 2 medium, 4 resilient and 1 unknown. The live file edit is a parameter change under the challenge policy, not proof of full application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 Show slide 5. Distinguish behavioural checks from independent accuracy. Finish with the intended use and next work. Stop before the hidden backup slides.</a:t>
            </a:r>
          </a:p>
          <a:p xmlns:a="http://schemas.openxmlformats.org/drawingml/2006/main">
            <a:r>
              <a:t/>
            </a:r>
          </a:p>
          <a:p xmlns:a="http://schemas.openxmlformats.org/drawingml/2006/main">
            <a:r>
              <a:t>SPOKEN SCRIPT</a:t>
            </a:r>
          </a:p>
          <a:p xmlns:a="http://schemas.openxmlformats.org/drawingml/2006/main">
            <a:r>
              <a:t>Eighty-six automated tests passed, including checks against manual expectations for all 24 supplied source files. The engine also keeps unresolved cases visible. These checks support specific behaviours. We do not yet have independent production accuracy measurements. The new summary groups next steps by file or resource and considers the evidence state. Business context still needs review. Next steps are broader detection, independent evaluation and validated CycloneDX export. QuantumTrace gives reviewers a traceable starting point for migration decisions. Thank you.</a:t>
            </a:r>
          </a:p>
          <a:p xmlns:a="http://schemas.openxmlformats.org/drawingml/2006/main">
            <a:r>
              <a:t/>
            </a:r>
          </a:p>
          <a:p xmlns:a="http://schemas.openxmlformats.org/drawingml/2006/main">
            <a:r>
              <a:t>Sources: VALIDATION.md and tests/test_*.py, QuantumTrace 0.3.3. 86 tests passed in the preparation environment with Python 3.12.14 and TShark 4.2.2. No official complete ground-truth labels or independent production accuracy estimate. The full 86-test suite and HTTP/DOM workflow checks were rerun for this release. The supplied Windows screenshots confirm visible results, not every UI action. File/resource priorities are implemented as technical inspection guidance. Enterprise impact modelling and validated CycloneDX export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Explain the weights using the eight-file example, then the challenge calculation. Unknown cases have no score and remain visible.</a:t>
            </a:r>
          </a:p>
          <a:p xmlns:a="http://schemas.openxmlformats.org/drawingml/2006/main">
            <a:r>
              <a:t/>
            </a:r>
          </a:p>
          <a:p xmlns:a="http://schemas.openxmlformats.org/drawingml/2006/main">
            <a:r>
              <a:t>Suggested answer: The index is a weighted mean of rated, non-offered primitive observations. The weights are our project heuristic. It describes the composition of this inventory, rather than a calibrated enterprise risk or probability.</a:t>
            </a:r>
          </a:p>
          <a:p xmlns:a="http://schemas.openxmlformats.org/drawingml/2006/main">
            <a:r>
              <a:t/>
            </a:r>
          </a:p>
          <a:p xmlns:a="http://schemas.openxmlformats.org/drawingml/2006/main">
            <a:r>
              <a:t>Sources: inventory.py make_report(), POLICY.md, reports/report.json and Preparacao/resultados/report.json. Weights are a project heuristic. Unknown and offered observations are excluded. Duplicate component observations affect the mean. Empty rated set produces null, not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Separate the challenge tiers from our contextual hash extension. A review case may have a recognised primitive but insufficient parameters or an unimplemented construction rule.</a:t>
            </a:r>
          </a:p>
          <a:p xmlns:a="http://schemas.openxmlformats.org/drawingml/2006/main">
            <a:r>
              <a:t/>
            </a:r>
          </a:p>
          <a:p xmlns:a="http://schemas.openxmlformats.org/drawingml/2006/main">
            <a:r>
              <a:t>Suggested answer: We follow the challenge for RSA and AES. The hash mapping is an explicit project extension using ideal query models. It does not estimate practical attack time or assign NIST categories.</a:t>
            </a:r>
          </a:p>
          <a:p xmlns:a="http://schemas.openxmlformats.org/drawingml/2006/main">
            <a:r>
              <a:t/>
            </a:r>
          </a:p>
          <a:p xmlns:a="http://schemas.openxmlformats.org/drawingml/2006/main">
            <a:r>
              <a:t>Sources: challenge brief; policy.py and POLICY.md. The hash target and tiers are a documented project extension, not NIST categories. NIST FAQ https://csrc.nist.gov/projects/post-quantum-cryptography/faqs explains practical constraints on Grover attacks. NIST FIPS 203 https://csrc.nist.gov/pubs/fips/203/final defines ML-KEM. Consulted 2026-10-10. ML-KEM-768 is a parameter set name, not a 768-bit secret. Generic model sources: https://arxiv.org/abs/quant-ph/9705002 and https://arxiv.org/abs/quant-ph/9605034.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Point to the offered versus selected distinction. Explain the seven hybrid sessions as component-level evidence.</a:t>
            </a:r>
          </a:p>
          <a:p xmlns:a="http://schemas.openxmlformats.org/drawingml/2006/main">
            <a:r>
              <a:t/>
            </a:r>
          </a:p>
          <a:p xmlns:a="http://schemas.openxmlformats.org/drawingml/2006/main">
            <a:r>
              <a:t>Suggested answer: An offered option does not prove use. A ServerHello can identify a selected group in the capture. We preserve both classical and PQC components in hybrid groups, without certifying the combined protocol.</a:t>
            </a:r>
          </a:p>
          <a:p xmlns:a="http://schemas.openxmlformats.org/drawingml/2006/main">
            <a:r>
              <a:t/>
            </a:r>
          </a:p>
          <a:p xmlns:a="http://schemas.openxmlformats.org/drawingml/2006/main">
            <a:r>
              <a:t>Sources: tls.py, POLICY.md and reports/report.json. 97 sessions with ServerHello observations, seven selected X25519MLKEM768 groups. Static/configured/offered/negotiated evidence does not establish correct implementation or complete authentication. A critical classical component alone does not prove the hybrid construction broken.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53abaeb14f49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e1c969423043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ec1bae3b294c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f26f043e9949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f4748313594d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be4efaf0a346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1BE790-6ABC-4F79-9161-E685C73C0F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F270AC-A5A9-4545-A353-0326A2FFAA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4D04F4-BF32-4FF9-97EF-14B5475689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F4C910-B304-4913-8FB3-D5B5FDDB3D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0AD80B-804A-408B-B7D0-C3387BB9CE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3B068F-10A1-47A4-B068-68E4987D58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9F0913-8A1F-46E8-8394-21B550FF7D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74BE27-897E-4D50-A61D-20E8EA97D6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9D4BED-CBD3-4677-B187-548421FFF0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EA1C2E-6997-4925-9CC1-93C72D4622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83b40622184e4b" /><Relationship Type="http://schemas.openxmlformats.org/officeDocument/2006/relationships/slideLayout" Target="/ppt/slideLayouts/slideLayout1.xml" Id="R76fddf58d4d24db3" /><Relationship Type="http://schemas.openxmlformats.org/officeDocument/2006/relationships/slideLayout" Target="/ppt/slideLayouts/slideLayout2.xml" Id="R860679ec63b54522" /><Relationship Type="http://schemas.openxmlformats.org/officeDocument/2006/relationships/slideLayout" Target="/ppt/slideLayouts/slideLayout3.xml" Id="Rc46271848aa043a3" /><Relationship Type="http://schemas.openxmlformats.org/officeDocument/2006/relationships/slideLayout" Target="/ppt/slideLayouts/slideLayout4.xml" Id="Rbf7c4385284646f5" /><Relationship Type="http://schemas.openxmlformats.org/officeDocument/2006/relationships/slideLayout" Target="/ppt/slideLayouts/slideLayout5.xml" Id="Ra7e14d7e6faf4ed2" /><Relationship Type="http://schemas.openxmlformats.org/officeDocument/2006/relationships/slideLayout" Target="/ppt/slideLayouts/slideLayout6.xml" Id="R93ab989e69e948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ddf58d4d24db3"/>
    <p:sldLayoutId xmlns:r="http://schemas.openxmlformats.org/officeDocument/2006/relationships" id="2147483650" r:id="R860679ec63b54522"/>
    <p:sldLayoutId xmlns:r="http://schemas.openxmlformats.org/officeDocument/2006/relationships" id="2147483651" r:id="Rc46271848aa043a3"/>
    <p:sldLayoutId xmlns:r="http://schemas.openxmlformats.org/officeDocument/2006/relationships" id="2147483652" r:id="Rbf7c4385284646f5"/>
    <p:sldLayoutId xmlns:r="http://schemas.openxmlformats.org/officeDocument/2006/relationships" id="2147483653" r:id="Ra7e14d7e6faf4ed2"/>
    <p:sldLayoutId xmlns:r="http://schemas.openxmlformats.org/officeDocument/2006/relationships" id="2147483654" r:id="R93ab989e69e948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2c8e51cfae4075" /><Relationship Type="http://schemas.openxmlformats.org/officeDocument/2006/relationships/image" Target="/ppt/media/image.png" Id="Ref2c327278b14f53" /><Relationship Type="http://schemas.openxmlformats.org/officeDocument/2006/relationships/notesSlide" Target="/ppt/notesSlides/notesSlide1.xml" Id="Rd05ea948de274b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874a968a394e1a" /><Relationship Type="http://schemas.openxmlformats.org/officeDocument/2006/relationships/notesSlide" Target="/ppt/notesSlides/notesSlide2.xml" Id="R2e80f6720cf34d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20bef90c514ff8" /><Relationship Type="http://schemas.openxmlformats.org/officeDocument/2006/relationships/chart" Target="/ppt/slides/charts/chart1.xml" Id="Re52c5529b0e84b69" /><Relationship Type="http://schemas.openxmlformats.org/officeDocument/2006/relationships/notesSlide" Target="/ppt/notesSlides/notesSlide3.xml" Id="Rb20ae494f94b44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4fc600a75d40af" /><Relationship Type="http://schemas.openxmlformats.org/officeDocument/2006/relationships/notesSlide" Target="/ppt/notesSlides/notesSlide4.xml" Id="R6e666ea45d9946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686c50e2cc49d0" /><Relationship Type="http://schemas.openxmlformats.org/officeDocument/2006/relationships/notesSlide" Target="/ppt/notesSlides/notesSlide5.xml" Id="R9a14220c092b47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b876e953a64dab" /><Relationship Type="http://schemas.openxmlformats.org/officeDocument/2006/relationships/notesSlide" Target="/ppt/notesSlides/notesSlide6.xml" Id="R65a020ef4f0f41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7eb7e964b1441b" /><Relationship Type="http://schemas.openxmlformats.org/officeDocument/2006/relationships/notesSlide" Target="/ppt/notesSlides/notesSlide7.xml" Id="Ra838b99d91824f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79e6f15ac6421d" /><Relationship Type="http://schemas.openxmlformats.org/officeDocument/2006/relationships/notesSlide" Target="/ppt/notesSlides/notesSlide8.xml" Id="R0657659385bf494e" /></Relationships>
</file>

<file path=ppt/slides/charts/chart1.xml><?xml version="1.0" encoding="utf-8"?>
<c:chartSpace xmlns:c="http://schemas.openxmlformats.org/drawingml/2006/chart">
  <c:lang val="en-US"/>
  <c:chart>
    <c:plotArea>
      <c:barChart>
        <c:barDir val="bar"/>
        <c:grouping val="clustered"/>
        <c:varyColors val="0"/>
        <c:ser>
          <c:idx val="0"/>
          <c:order val="0"/>
          <c:tx>
            <c:v>Card observations</c:v>
          </c:tx>
          <c:spPr>
            <a:solidFill xmlns:a="http://schemas.openxmlformats.org/drawingml/2006/main">
              <a:srgbClr val="52E1DF"/>
            </a:solidFill>
          </c:spPr>
          <c:dPt>
            <c:idx val="0"/>
            <c:invertIfNegative val="0"/>
            <c:spPr>
              <a:solidFill xmlns:a="http://schemas.openxmlformats.org/drawingml/2006/main">
                <a:srgbClr val="FF889A"/>
              </a:solidFill>
            </c:spPr>
          </c:dPt>
          <c:dPt>
            <c:idx val="1"/>
            <c:invertIfNegative val="0"/>
            <c:spPr>
              <a:solidFill xmlns:a="http://schemas.openxmlformats.org/drawingml/2006/main">
                <a:srgbClr val="FFCB79"/>
              </a:solidFill>
            </c:spPr>
          </c:dPt>
          <c:dPt>
            <c:idx val="2"/>
            <c:invertIfNegative val="0"/>
            <c:spPr>
              <a:solidFill xmlns:a="http://schemas.openxmlformats.org/drawingml/2006/main">
                <a:srgbClr val="61DCAE"/>
              </a:solidFill>
            </c:spPr>
          </c:dPt>
          <c:dPt>
            <c:idx val="3"/>
            <c:invertIfNegative val="0"/>
            <c:spPr>
              <a:solidFill xmlns:a="http://schemas.openxmlformats.org/drawingml/2006/main">
                <a:srgbClr val="A6BCFF"/>
              </a:solidFill>
            </c:spPr>
          </c:dPt>
          <c:cat>
            <c:strLit>
              <c:ptCount val="4"/>
              <c:pt idx="0">
                <c:v>Critical</c:v>
              </c:pt>
              <c:pt idx="1">
                <c:v>Medium</c:v>
              </c:pt>
              <c:pt idx="2">
                <c:v>Resilient</c:v>
              </c:pt>
              <c:pt idx="3">
                <c:v>Needs review</c:v>
              </c:pt>
            </c:strLit>
          </c:cat>
          <c:val>
            <c:numLit>
              <c:formatCode>General</c:formatCode>
              <c:ptCount val="4"/>
              <c:pt idx="0">
                <c:v>238</c:v>
              </c:pt>
              <c:pt idx="1">
                <c:v>274</c:v>
              </c:pt>
              <c:pt idx="2">
                <c:v>98</c:v>
              </c:pt>
              <c:pt idx="3">
                <c:v>9</c:v>
              </c:pt>
            </c:numLit>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F4F8F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F4F8FC"/>
                </a:solidFill>
                <a:latin typeface="DejaVu Sans"/>
                <a:ea typeface="DejaVu Sans"/>
                <a:cs typeface="DejaVu Sans"/>
              </a:defRPr>
            </a:pPr>
          </a:p>
        </c:txPr>
        <c:crossAx val="48672768"/>
      </c:catAx>
      <c:valAx>
        <c:axId val="48672768"/>
        <c:scaling>
          <c:orientation val="minMax"/>
          <c:max val="31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0B1620"/>
        </a:solidFill>
        <a:ln xmlns:a="http://schemas.openxmlformats.org/drawingml/2006/main" w="0">
          <a:noFill/>
        </a:ln>
      </c:spPr>
    </c:plotArea>
    <c:plotVisOnly val="1"/>
  </c:chart>
  <c:spPr>
    <a:solidFill xmlns:a="http://schemas.openxmlformats.org/drawingml/2006/main">
      <a:srgbClr val="0B162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56F2F61A-63CD-4B85-A748-262B57CD99AF}"/>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1</a:t>
            </a:r>
          </a:p>
        </p:txBody>
      </p:sp>
      <p:pic>
        <p:nvPicPr>
          <p:cNvPr id="2" name="">
            <a:extLst xmlns:a="http://schemas.openxmlformats.org/drawingml/2006/main">
              <a:ext uri="{FF2B5EF4-FFF2-40B4-BE49-F238E27FC236}">
                <a16:creationId xmlns:a16="http://schemas.microsoft.com/office/drawing/2014/main" id="{DD3509EE-1D43-4598-802E-E8821DA8CB9A}"/>
              </a:ext>
            </a:extLst>
          </p:cNvPr>
          <p:cNvPicPr>
            <a:picLocks xmlns:a="http://schemas.openxmlformats.org/drawingml/2006/main" noChangeAspect="1"/>
          </p:cNvPicPr>
          <p:nvPr/>
        </p:nvPicPr>
        <p:blipFill>
          <a:blip xmlns:r="http://schemas.openxmlformats.org/officeDocument/2006/relationships" xmlns:a="http://schemas.openxmlformats.org/drawingml/2006/main" r:embed="Ref2c327278b1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HIDDEN SIGNAL">
            <a:extLst xmlns:a="http://schemas.openxmlformats.org/drawingml/2006/main">
              <a:ext uri="{FF2B5EF4-FFF2-40B4-BE49-F238E27FC236}">
                <a16:creationId xmlns:a16="http://schemas.microsoft.com/office/drawing/2014/main" id="{0E3520B6-B804-420D-BE6C-18CD0B2DFD0F}"/>
              </a:ext>
            </a:extLst>
          </p:cNvPr>
          <p:cNvSpPr>
            <a:spLocks xmlns:a="http://schemas.openxmlformats.org/drawingml/2006/main" noGrp="1"/>
          </p:cNvSpPr>
          <p:nvPr/>
        </p:nvSpPr>
        <p:spPr>
          <a:xfrm xmlns:a="http://schemas.openxmlformats.org/drawingml/2006/main">
            <a:off x="685800" y="638175"/>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2E1DF"/>
                </a:solidFill>
                <a:latin typeface="DejaVu Sans"/>
                <a:ea typeface="DejaVu Sans"/>
                <a:cs typeface="DejaVu Sans"/>
              </a:defRPr>
            </a:defPPr>
          </a:lstStyle>
          <a:p xmlns:a="http://schemas.openxmlformats.org/drawingml/2006/main">
            <a:pPr>
              <a:defRPr sz="1875" b="1">
                <a:solidFill>
                  <a:srgbClr val="52E1DF"/>
                </a:solidFill>
                <a:latin typeface="DejaVu Sans"/>
                <a:ea typeface="DejaVu Sans"/>
                <a:cs typeface="DejaVu Sans"/>
              </a:defRPr>
            </a:pPr>
            <a:r>
              <a:rPr sz="1875" b="1">
                <a:solidFill>
                  <a:srgbClr val="52E1DF"/>
                </a:solidFill>
                <a:latin typeface="DejaVu Sans"/>
                <a:ea typeface="DejaVu Sans"/>
                <a:cs typeface="DejaVu Sans"/>
              </a:rPr>
              <a:t>HIDDEN SIGNAL</a:t>
            </a:r>
          </a:p>
        </p:txBody>
      </p:sp>
      <p:sp>
        <p:nvSpPr>
          <p:cNvPr id="4" name="QuantumTrace">
            <a:extLst xmlns:a="http://schemas.openxmlformats.org/drawingml/2006/main">
              <a:ext uri="{FF2B5EF4-FFF2-40B4-BE49-F238E27FC236}">
                <a16:creationId xmlns:a16="http://schemas.microsoft.com/office/drawing/2014/main" id="{68ADF1C3-8AE6-4E4E-9CA3-0EF531DCC1AB}"/>
              </a:ext>
            </a:extLst>
          </p:cNvPr>
          <p:cNvSpPr>
            <a:spLocks xmlns:a="http://schemas.openxmlformats.org/drawingml/2006/main" noGrp="1"/>
          </p:cNvSpPr>
          <p:nvPr/>
        </p:nvSpPr>
        <p:spPr>
          <a:xfrm xmlns:a="http://schemas.openxmlformats.org/drawingml/2006/main">
            <a:off x="685800" y="207645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F4F8FC"/>
                </a:solidFill>
                <a:latin typeface="DejaVu Sans"/>
                <a:ea typeface="DejaVu Sans"/>
                <a:cs typeface="DejaVu Sans"/>
              </a:defRPr>
            </a:defPPr>
          </a:lstStyle>
          <a:p xmlns:a="http://schemas.openxmlformats.org/drawingml/2006/main">
            <a:pPr>
              <a:defRPr sz="6300" b="1">
                <a:solidFill>
                  <a:srgbClr val="F4F8FC"/>
                </a:solidFill>
                <a:latin typeface="DejaVu Sans"/>
                <a:ea typeface="DejaVu Sans"/>
                <a:cs typeface="DejaVu Sans"/>
              </a:defRPr>
            </a:pPr>
            <a:r>
              <a:rPr sz="6300" b="1">
                <a:solidFill>
                  <a:srgbClr val="F4F8FC"/>
                </a:solidFill>
                <a:latin typeface="DejaVu Sans"/>
                <a:ea typeface="DejaVu Sans"/>
                <a:cs typeface="DejaVu Sans"/>
              </a:rPr>
              <a:t>QuantumTrace</a:t>
            </a:r>
          </a:p>
        </p:txBody>
      </p:sp>
      <p:sp>
        <p:nvSpPr>
          <p:cNvPr id="5" name="Cryptographic inventory&#10;with inspectable">
            <a:extLst xmlns:a="http://schemas.openxmlformats.org/drawingml/2006/main">
              <a:ext uri="{FF2B5EF4-FFF2-40B4-BE49-F238E27FC236}">
                <a16:creationId xmlns:a16="http://schemas.microsoft.com/office/drawing/2014/main" id="{491CC26C-B02E-4179-A95A-38C4C6035B8B}"/>
              </a:ext>
            </a:extLst>
          </p:cNvPr>
          <p:cNvSpPr>
            <a:spLocks xmlns:a="http://schemas.openxmlformats.org/drawingml/2006/main" noGrp="1"/>
          </p:cNvSpPr>
          <p:nvPr/>
        </p:nvSpPr>
        <p:spPr>
          <a:xfrm xmlns:a="http://schemas.openxmlformats.org/drawingml/2006/main">
            <a:off x="685800" y="3333750"/>
            <a:ext cx="685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4F8FC"/>
                </a:solidFill>
                <a:latin typeface="DejaVu Sans"/>
                <a:ea typeface="DejaVu Sans"/>
                <a:cs typeface="DejaVu Sans"/>
              </a:defRPr>
            </a:defPPr>
          </a:lstStyle>
          <a:p xmlns:a="http://schemas.openxmlformats.org/drawingml/2006/main">
            <a:pPr>
              <a:defRPr sz="2625" b="0">
                <a:solidFill>
                  <a:srgbClr val="F4F8FC"/>
                </a:solidFill>
                <a:latin typeface="DejaVu Sans"/>
                <a:ea typeface="DejaVu Sans"/>
                <a:cs typeface="DejaVu Sans"/>
              </a:defRPr>
            </a:pPr>
            <a:r>
              <a:rPr sz="2625" b="0">
                <a:solidFill>
                  <a:srgbClr val="F4F8FC"/>
                </a:solidFill>
                <a:latin typeface="DejaVu Sans"/>
                <a:ea typeface="DejaVu Sans"/>
                <a:cs typeface="DejaVu Sans"/>
              </a:rPr>
              <a:t>Cryptographic inventory</a:t>
            </a:r>
          </a:p>
          <a:p xmlns:a="http://schemas.openxmlformats.org/drawingml/2006/main">
            <a:pPr>
              <a:defRPr sz="2625" b="0">
                <a:solidFill>
                  <a:srgbClr val="F4F8FC"/>
                </a:solidFill>
                <a:latin typeface="DejaVu Sans"/>
                <a:ea typeface="DejaVu Sans"/>
                <a:cs typeface="DejaVu Sans"/>
              </a:defRPr>
            </a:pPr>
            <a:r>
              <a:rPr sz="2625" b="0">
                <a:solidFill>
                  <a:srgbClr val="F4F8FC"/>
                </a:solidFill>
                <a:latin typeface="DejaVu Sans"/>
                <a:ea typeface="DejaVu Sans"/>
                <a:cs typeface="DejaVu Sans"/>
              </a:rPr>
              <a:t>with inspectable evidence</a:t>
            </a:r>
          </a:p>
        </p:txBody>
      </p:sp>
      <p:sp>
        <p:nvSpPr>
          <p:cNvPr id="6" name="Pedro&#10;JunctionX Lisbon 2026">
            <a:extLst xmlns:a="http://schemas.openxmlformats.org/drawingml/2006/main">
              <a:ext uri="{FF2B5EF4-FFF2-40B4-BE49-F238E27FC236}">
                <a16:creationId xmlns:a16="http://schemas.microsoft.com/office/drawing/2014/main" id="{9525A5E4-F3F4-4E9A-8C1B-63A480826174}"/>
              </a:ext>
            </a:extLst>
          </p:cNvPr>
          <p:cNvSpPr>
            <a:spLocks xmlns:a="http://schemas.openxmlformats.org/drawingml/2006/main" noGrp="1"/>
          </p:cNvSpPr>
          <p:nvPr/>
        </p:nvSpPr>
        <p:spPr>
          <a:xfrm xmlns:a="http://schemas.openxmlformats.org/drawingml/2006/main">
            <a:off x="685800" y="54673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6BBCB"/>
                </a:solidFill>
                <a:latin typeface="DejaVu Sans"/>
                <a:ea typeface="DejaVu Sans"/>
                <a:cs typeface="DejaVu Sans"/>
              </a:defRPr>
            </a:defPPr>
          </a:lstStyle>
          <a:p xmlns:a="http://schemas.openxmlformats.org/drawingml/2006/main">
            <a:pPr>
              <a:defRPr sz="1875" b="0">
                <a:solidFill>
                  <a:srgbClr val="A6BBCB"/>
                </a:solidFill>
                <a:latin typeface="DejaVu Sans"/>
                <a:ea typeface="DejaVu Sans"/>
                <a:cs typeface="DejaVu Sans"/>
              </a:defRPr>
            </a:pPr>
            <a:r>
              <a:rPr sz="1875" b="0">
                <a:solidFill>
                  <a:srgbClr val="A6BBCB"/>
                </a:solidFill>
                <a:latin typeface="DejaVu Sans"/>
                <a:ea typeface="DejaVu Sans"/>
                <a:cs typeface="DejaVu Sans"/>
              </a:rPr>
              <a:t>Pedro</a:t>
            </a:r>
          </a:p>
          <a:p xmlns:a="http://schemas.openxmlformats.org/drawingml/2006/main">
            <a:pPr>
              <a:defRPr sz="1875" b="0">
                <a:solidFill>
                  <a:srgbClr val="A6BBCB"/>
                </a:solidFill>
                <a:latin typeface="DejaVu Sans"/>
                <a:ea typeface="DejaVu Sans"/>
                <a:cs typeface="DejaVu Sans"/>
              </a:defRPr>
            </a:pPr>
            <a:r>
              <a:rPr sz="1875" b="0">
                <a:solidFill>
                  <a:srgbClr val="A6BBCB"/>
                </a:solidFill>
                <a:latin typeface="DejaVu Sans"/>
                <a:ea typeface="DejaVu Sans"/>
                <a:cs typeface="DejaVu Sans"/>
              </a:rPr>
              <a:t>JunctionX Lisbon 2026</a:t>
            </a:r>
          </a:p>
        </p:txBody>
      </p:sp>
    </p:spTree>
    <p:extLst>
      <p:ext uri="{BB962C8B-B14F-4D97-AF65-F5344CB8AC3E}">
        <p14:creationId xmlns:p14="http://schemas.microsoft.com/office/powerpoint/2010/main" val="849167145"/>
      </p:ext>
    </p:extLst>
  </p:cSld>
</p:sld>
</file>

<file path=ppt/slides/slide2.xml><?xml version="1.0" encoding="utf-8"?>
<p:sld xmlns:p="http://schemas.openxmlformats.org/presentationml/2006/main">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17FE2F-9BCB-4FDF-A0EB-EC4AD63693B9}"/>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Cryptographic evidence</a:t>
            </a:r>
          </a:p>
        </p:txBody>
      </p:sp>
      <p:sp>
        <p:nvSpPr>
          <p:cNvPr id="2" name="page-number">
            <a:extLst xmlns:a="http://schemas.openxmlformats.org/drawingml/2006/main">
              <a:ext uri="{FF2B5EF4-FFF2-40B4-BE49-F238E27FC236}">
                <a16:creationId xmlns:a16="http://schemas.microsoft.com/office/drawing/2014/main" id="{30DFF70E-BBF9-4A6A-9A06-2683E281ECA8}"/>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2</a:t>
            </a:r>
          </a:p>
        </p:txBody>
      </p:sp>
      <p:graphicFrame>
        <p:nvGraphicFramePr>
          <p:cNvPr id="3" name="">
            <a:extLst xmlns:a="http://schemas.openxmlformats.org/drawingml/2006/main">
              <a:ext uri="{FF2B5EF4-FFF2-40B4-BE49-F238E27FC236}">
                <a16:creationId xmlns:a16="http://schemas.microsoft.com/office/drawing/2014/main" id="{C37B6B65-98D4-4094-BCB0-8F22B17246E5}"/>
              </a:ext>
            </a:extLst>
          </p:cNvPr>
          <p:cNvGraphicFramePr/>
          <p:nvPr/>
        </p:nvGraphicFramePr>
        <p:xfrm>
          <a:off xmlns:a="http://schemas.openxmlformats.org/drawingml/2006/main" x="685800" y="1857375"/>
          <a:ext xmlns:a="http://schemas.openxmlformats.org/drawingml/2006/main" cx="10820400" cy="3333750"/>
        </p:xfrm>
        <a:graphic xmlns:a="http://schemas.openxmlformats.org/drawingml/2006/main">
          <a:graphicData uri="http://schemas.openxmlformats.org/drawingml/2006/table">
            <a:tbl>
              <a:tblPr firstRow="0" bandRow="0" bandCol="0"/>
              <a:tblGrid>
                <a:gridCol w="3143250"/>
                <a:gridCol w="4810125"/>
                <a:gridCol w="2867025"/>
              </a:tblGrid>
              <a:tr h="833438">
                <a:tc>
                  <a:txBody>
                    <a:bodyPr/>
                    <a:lstStyle/>
                    <a:p>
                      <a:r>
                        <a:rPr sz="2100" b="1">
                          <a:solidFill>
                            <a:srgbClr val="52E1DF"/>
                          </a:solidFill>
                          <a:latin typeface="DejaVu Sans"/>
                          <a:ea typeface="DejaVu Sans"/>
                          <a:cs typeface="DejaVu Sans"/>
                        </a:rPr>
                        <a:t>Input</a:t>
                      </a:r>
                    </a:p>
                  </a:txBody>
                  <a:tcPr marL="38100" marR="171450" marT="76200" marB="76200">
                    <a:solidFill>
                      <a:srgbClr val="0B1620"/>
                    </a:solidFill>
                  </a:tcPr>
                </a:tc>
                <a:tc>
                  <a:txBody>
                    <a:bodyPr/>
                    <a:lstStyle/>
                    <a:p>
                      <a:r>
                        <a:rPr sz="2100" b="1">
                          <a:solidFill>
                            <a:srgbClr val="52E1DF"/>
                          </a:solidFill>
                          <a:latin typeface="DejaVu Sans"/>
                          <a:ea typeface="DejaVu Sans"/>
                          <a:cs typeface="DejaVu Sans"/>
                        </a:rPr>
                        <a:t>Detection</a:t>
                      </a:r>
                    </a:p>
                  </a:txBody>
                  <a:tcPr marL="38100" marR="171450" marT="76200" marB="76200">
                    <a:solidFill>
                      <a:srgbClr val="0B1620"/>
                    </a:solidFill>
                  </a:tcPr>
                </a:tc>
                <a:tc>
                  <a:txBody>
                    <a:bodyPr/>
                    <a:lstStyle/>
                    <a:p>
                      <a:r>
                        <a:rPr sz="2100" b="1">
                          <a:solidFill>
                            <a:srgbClr val="52E1DF"/>
                          </a:solidFill>
                          <a:latin typeface="DejaVu Sans"/>
                          <a:ea typeface="DejaVu Sans"/>
                          <a:cs typeface="DejaVu Sans"/>
                        </a:rPr>
                        <a:t>Evidence</a:t>
                      </a:r>
                    </a:p>
                  </a:txBody>
                  <a:tcPr marL="38100" marR="171450" marT="76200" marB="76200">
                    <a:solidFill>
                      <a:srgbClr val="0B1620"/>
                    </a:solidFill>
                  </a:tcPr>
                </a:tc>
              </a:tr>
              <a:tr h="833438">
                <a:tc>
                  <a:txBody>
                    <a:bodyPr/>
                    <a:lstStyle/>
                    <a:p>
                      <a:r>
                        <a:rPr sz="2100" b="0">
                          <a:solidFill>
                            <a:srgbClr val="F4F8FC"/>
                          </a:solidFill>
                          <a:latin typeface="DejaVu Sans"/>
                          <a:ea typeface="DejaVu Sans"/>
                          <a:cs typeface="DejaVu Sans"/>
                        </a:rPr>
                        <a:t>Python, Java and Go</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Supported calls and parameters</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Static call</a:t>
                      </a:r>
                    </a:p>
                  </a:txBody>
                  <a:tcPr marL="38100" marR="171450" marT="76200" marB="76200">
                    <a:solidFill>
                      <a:srgbClr val="0B1620"/>
                    </a:solidFill>
                  </a:tcPr>
                </a:tc>
              </a:tr>
              <a:tr h="833438">
                <a:tc>
                  <a:txBody>
                    <a:bodyPr/>
                    <a:lstStyle/>
                    <a:p>
                      <a:r>
                        <a:rPr sz="2100" b="0">
                          <a:solidFill>
                            <a:srgbClr val="F4F8FC"/>
                          </a:solidFill>
                          <a:latin typeface="DejaVu Sans"/>
                          <a:ea typeface="DejaVu Sans"/>
                          <a:cs typeface="DejaVu Sans"/>
                        </a:rPr>
                        <a:t>Cloud JSON</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Known fields and provider mappings</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Configured</a:t>
                      </a:r>
                    </a:p>
                  </a:txBody>
                  <a:tcPr marL="38100" marR="171450" marT="76200" marB="76200">
                    <a:solidFill>
                      <a:srgbClr val="0B1620"/>
                    </a:solidFill>
                  </a:tcPr>
                </a:tc>
              </a:tr>
              <a:tr h="833438">
                <a:tc>
                  <a:txBody>
                    <a:bodyPr/>
                    <a:lstStyle/>
                    <a:p>
                      <a:r>
                        <a:rPr sz="2100" b="0">
                          <a:solidFill>
                            <a:srgbClr val="F4F8FC"/>
                          </a:solidFill>
                          <a:latin typeface="DejaVu Sans"/>
                          <a:ea typeface="DejaVu Sans"/>
                          <a:cs typeface="DejaVu Sans"/>
                        </a:rPr>
                        <a:t>TLS captures and JSON</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Handshake identifiers and events</a:t>
                      </a:r>
                    </a:p>
                  </a:txBody>
                  <a:tcPr marL="38100" marR="171450" marT="76200" marB="76200">
                    <a:solidFill>
                      <a:srgbClr val="0B1620"/>
                    </a:solidFill>
                  </a:tcPr>
                </a:tc>
                <a:tc>
                  <a:txBody>
                    <a:bodyPr/>
                    <a:lstStyle/>
                    <a:p>
                      <a:r>
                        <a:rPr sz="2100" b="0">
                          <a:solidFill>
                            <a:srgbClr val="F4F8FC"/>
                          </a:solidFill>
                          <a:latin typeface="DejaVu Sans"/>
                          <a:ea typeface="DejaVu Sans"/>
                          <a:cs typeface="DejaVu Sans"/>
                        </a:rPr>
                        <a:t>Offered or negotiated</a:t>
                      </a:r>
                    </a:p>
                  </a:txBody>
                  <a:tcPr marL="38100" marR="171450" marT="76200" marB="76200">
                    <a:solidFill>
                      <a:srgbClr val="0B1620"/>
                    </a:solidFill>
                  </a:tcPr>
                </a:tc>
              </a:tr>
            </a:tbl>
          </a:graphicData>
        </a:graphic>
      </p:graphicFrame>
      <p:sp>
        <p:nvSpPr>
          <p:cNvPr id="4" name="One inventory records the source, parame">
            <a:extLst xmlns:a="http://schemas.openxmlformats.org/drawingml/2006/main">
              <a:ext uri="{FF2B5EF4-FFF2-40B4-BE49-F238E27FC236}">
                <a16:creationId xmlns:a16="http://schemas.microsoft.com/office/drawing/2014/main" id="{D6DC3DAA-7D09-4557-BFC1-7759506193BD}"/>
              </a:ext>
            </a:extLst>
          </p:cNvPr>
          <p:cNvSpPr>
            <a:spLocks xmlns:a="http://schemas.openxmlformats.org/drawingml/2006/main" noGrp="1"/>
          </p:cNvSpPr>
          <p:nvPr/>
        </p:nvSpPr>
        <p:spPr>
          <a:xfrm xmlns:a="http://schemas.openxmlformats.org/drawingml/2006/main">
            <a:off x="685800" y="55245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E1DF"/>
                </a:solidFill>
                <a:latin typeface="DejaVu Sans"/>
                <a:ea typeface="DejaVu Sans"/>
                <a:cs typeface="DejaVu Sans"/>
              </a:defRPr>
            </a:defPPr>
          </a:lstStyle>
          <a:p xmlns:a="http://schemas.openxmlformats.org/drawingml/2006/main">
            <a:pPr>
              <a:defRPr sz="2250" b="0">
                <a:solidFill>
                  <a:srgbClr val="52E1DF"/>
                </a:solidFill>
                <a:latin typeface="DejaVu Sans"/>
                <a:ea typeface="DejaVu Sans"/>
                <a:cs typeface="DejaVu Sans"/>
              </a:defRPr>
            </a:pPr>
            <a:r>
              <a:rPr sz="2250" b="0">
                <a:solidFill>
                  <a:srgbClr val="52E1DF"/>
                </a:solidFill>
                <a:latin typeface="DejaVu Sans"/>
                <a:ea typeface="DejaVu Sans"/>
                <a:cs typeface="DejaVu Sans"/>
              </a:rPr>
              <a:t>One inventory records the source, parameters and assessment rule</a:t>
            </a:r>
          </a:p>
        </p:txBody>
      </p:sp>
    </p:spTree>
    <p:extLst>
      <p:ext uri="{BB962C8B-B14F-4D97-AF65-F5344CB8AC3E}">
        <p14:creationId xmlns:p14="http://schemas.microsoft.com/office/powerpoint/2010/main" val="290690336"/>
      </p:ext>
    </p:extLst>
  </p:cSld>
</p:sld>
</file>

<file path=ppt/slides/slide3.xml><?xml version="1.0" encoding="utf-8"?>
<p:sld xmlns:p="http://schemas.openxmlformats.org/presentationml/2006/main">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469E5B7-EFFB-46B7-800C-3BEE8355EB1F}"/>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Results on the supplied data</a:t>
            </a:r>
          </a:p>
        </p:txBody>
      </p:sp>
      <p:sp>
        <p:nvSpPr>
          <p:cNvPr id="2" name="page-number">
            <a:extLst xmlns:a="http://schemas.openxmlformats.org/drawingml/2006/main">
              <a:ext uri="{FF2B5EF4-FFF2-40B4-BE49-F238E27FC236}">
                <a16:creationId xmlns:a16="http://schemas.microsoft.com/office/drawing/2014/main" id="{DD6FE2A6-6EB5-4C04-B9CD-A812D22AFE3E}"/>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3</a:t>
            </a:r>
          </a:p>
        </p:txBody>
      </p:sp>
      <p:sp>
        <p:nvSpPr>
          <p:cNvPr id="3" name="1,574 observations = 619 in cards + 955 ">
            <a:extLst xmlns:a="http://schemas.openxmlformats.org/drawingml/2006/main">
              <a:ext uri="{FF2B5EF4-FFF2-40B4-BE49-F238E27FC236}">
                <a16:creationId xmlns:a16="http://schemas.microsoft.com/office/drawing/2014/main" id="{EC98C0F8-8173-4D5A-9AFA-D796A839BAD8}"/>
              </a:ext>
            </a:extLst>
          </p:cNvPr>
          <p:cNvSpPr>
            <a:spLocks xmlns:a="http://schemas.openxmlformats.org/drawingml/2006/main" noGrp="1"/>
          </p:cNvSpPr>
          <p:nvPr/>
        </p:nvSpPr>
        <p:spPr>
          <a:xfrm xmlns:a="http://schemas.openxmlformats.org/drawingml/2006/main">
            <a:off x="685800" y="165735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52E1DF"/>
                </a:solidFill>
                <a:latin typeface="DejaVu Sans"/>
                <a:ea typeface="DejaVu Sans"/>
                <a:cs typeface="DejaVu Sans"/>
              </a:defRPr>
            </a:defPPr>
          </a:lstStyle>
          <a:p xmlns:a="http://schemas.openxmlformats.org/drawingml/2006/main">
            <a:pPr>
              <a:defRPr sz="2475" b="0">
                <a:solidFill>
                  <a:srgbClr val="52E1DF"/>
                </a:solidFill>
                <a:latin typeface="DejaVu Sans"/>
                <a:ea typeface="DejaVu Sans"/>
                <a:cs typeface="DejaVu Sans"/>
              </a:defRPr>
            </a:pPr>
            <a:r>
              <a:rPr sz="2475" b="0">
                <a:solidFill>
                  <a:srgbClr val="52E1DF"/>
                </a:solidFill>
                <a:latin typeface="DejaVu Sans"/>
                <a:ea typeface="DejaVu Sans"/>
                <a:cs typeface="DejaVu Sans"/>
              </a:rPr>
              <a:t>1,574 observations = 619 in cards + 955 TLS offers</a:t>
            </a:r>
          </a:p>
        </p:txBody>
      </p:sp>
      <p:graphicFrame>
        <p:nvGraphicFramePr>
          <p:cNvPr id="4" name="Chart">
            <a:extLst xmlns:a="http://schemas.openxmlformats.org/drawingml/2006/main">
              <a:ext uri="{FF2B5EF4-FFF2-40B4-BE49-F238E27FC236}">
                <a16:creationId xmlns:a16="http://schemas.microsoft.com/office/drawing/2014/main" id="{4642168D-409B-4DF4-8093-FBA261EEA03A}"/>
              </a:ext>
            </a:extLst>
          </p:cNvPr>
          <p:cNvGraphicFramePr/>
          <p:nvPr/>
        </p:nvGraphicFramePr>
        <p:xfrm>
          <a:off xmlns:a="http://schemas.openxmlformats.org/drawingml/2006/main" x="619125" y="2571750"/>
          <a:ext xmlns:a="http://schemas.openxmlformats.org/drawingml/2006/main" cx="6381750" cy="2933700"/>
        </p:xfrm>
        <a:graphic xmlns:a="http://schemas.openxmlformats.org/drawingml/2006/main">
          <a:graphicData uri="http://schemas.openxmlformats.org/drawingml/2006/chart">
            <c:chart xmlns:r="http://schemas.openxmlformats.org/officeDocument/2006/relationships" xmlns:c="http://schemas.openxmlformats.org/drawingml/2006/chart" r:id="Re52c5529b0e84b69"/>
          </a:graphicData>
        </a:graphic>
      </p:graphicFrame>
      <p:sp>
        <p:nvSpPr>
          <p:cNvPr id="5" name="61.5">
            <a:extLst xmlns:a="http://schemas.openxmlformats.org/drawingml/2006/main">
              <a:ext uri="{FF2B5EF4-FFF2-40B4-BE49-F238E27FC236}">
                <a16:creationId xmlns:a16="http://schemas.microsoft.com/office/drawing/2014/main" id="{24E0FCED-8219-48F6-A0D0-803C3A99478E}"/>
              </a:ext>
            </a:extLst>
          </p:cNvPr>
          <p:cNvSpPr>
            <a:spLocks xmlns:a="http://schemas.openxmlformats.org/drawingml/2006/main" noGrp="1"/>
          </p:cNvSpPr>
          <p:nvPr/>
        </p:nvSpPr>
        <p:spPr>
          <a:xfrm xmlns:a="http://schemas.openxmlformats.org/drawingml/2006/main">
            <a:off x="7696200" y="2762250"/>
            <a:ext cx="371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F4F8FC"/>
                </a:solidFill>
                <a:latin typeface="DejaVu Sans"/>
                <a:ea typeface="DejaVu Sans"/>
                <a:cs typeface="DejaVu Sans"/>
              </a:defRPr>
            </a:defPPr>
          </a:lstStyle>
          <a:p xmlns:a="http://schemas.openxmlformats.org/drawingml/2006/main">
            <a:pPr>
              <a:defRPr sz="7500" b="1">
                <a:solidFill>
                  <a:srgbClr val="F4F8FC"/>
                </a:solidFill>
                <a:latin typeface="DejaVu Sans"/>
                <a:ea typeface="DejaVu Sans"/>
                <a:cs typeface="DejaVu Sans"/>
              </a:defRPr>
            </a:pPr>
            <a:r>
              <a:rPr sz="7500" b="1">
                <a:solidFill>
                  <a:srgbClr val="F4F8FC"/>
                </a:solidFill>
                <a:latin typeface="DejaVu Sans"/>
                <a:ea typeface="DejaVu Sans"/>
                <a:cs typeface="DejaVu Sans"/>
              </a:rPr>
              <a:t>61.5</a:t>
            </a:r>
          </a:p>
        </p:txBody>
      </p:sp>
      <p:sp>
        <p:nvSpPr>
          <p:cNvPr id="6" name="Primitive exposure index">
            <a:extLst xmlns:a="http://schemas.openxmlformats.org/drawingml/2006/main">
              <a:ext uri="{FF2B5EF4-FFF2-40B4-BE49-F238E27FC236}">
                <a16:creationId xmlns:a16="http://schemas.microsoft.com/office/drawing/2014/main" id="{BE224AA5-4953-4F92-9DB2-4203B88ED957}"/>
              </a:ext>
            </a:extLst>
          </p:cNvPr>
          <p:cNvSpPr>
            <a:spLocks xmlns:a="http://schemas.openxmlformats.org/drawingml/2006/main" noGrp="1"/>
          </p:cNvSpPr>
          <p:nvPr/>
        </p:nvSpPr>
        <p:spPr>
          <a:xfrm xmlns:a="http://schemas.openxmlformats.org/drawingml/2006/main">
            <a:off x="7667625" y="40386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E1DF"/>
                </a:solidFill>
                <a:latin typeface="DejaVu Sans"/>
                <a:ea typeface="DejaVu Sans"/>
                <a:cs typeface="DejaVu Sans"/>
              </a:defRPr>
            </a:defPPr>
          </a:lstStyle>
          <a:p xmlns:a="http://schemas.openxmlformats.org/drawingml/2006/main">
            <a:pPr>
              <a:defRPr sz="2100" b="0">
                <a:solidFill>
                  <a:srgbClr val="52E1DF"/>
                </a:solidFill>
                <a:latin typeface="DejaVu Sans"/>
                <a:ea typeface="DejaVu Sans"/>
                <a:cs typeface="DejaVu Sans"/>
              </a:defRPr>
            </a:pPr>
            <a:r>
              <a:rPr sz="2100" b="0">
                <a:solidFill>
                  <a:srgbClr val="52E1DF"/>
                </a:solidFill>
                <a:latin typeface="DejaVu Sans"/>
                <a:ea typeface="DejaVu Sans"/>
                <a:cs typeface="DejaVu Sans"/>
              </a:rPr>
              <a:t>Primitive exposure index</a:t>
            </a:r>
          </a:p>
        </p:txBody>
      </p:sp>
      <p:sp>
        <p:nvSpPr>
          <p:cNvPr id="7" name="610 rated observations">
            <a:extLst xmlns:a="http://schemas.openxmlformats.org/drawingml/2006/main">
              <a:ext uri="{FF2B5EF4-FFF2-40B4-BE49-F238E27FC236}">
                <a16:creationId xmlns:a16="http://schemas.microsoft.com/office/drawing/2014/main" id="{078577B8-AFDF-49D9-90D8-59658EB0ABC0}"/>
              </a:ext>
            </a:extLst>
          </p:cNvPr>
          <p:cNvSpPr>
            <a:spLocks xmlns:a="http://schemas.openxmlformats.org/drawingml/2006/main" noGrp="1"/>
          </p:cNvSpPr>
          <p:nvPr/>
        </p:nvSpPr>
        <p:spPr>
          <a:xfrm xmlns:a="http://schemas.openxmlformats.org/drawingml/2006/main">
            <a:off x="7667625" y="47625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6BBCB"/>
                </a:solidFill>
                <a:latin typeface="DejaVu Sans"/>
                <a:ea typeface="DejaVu Sans"/>
                <a:cs typeface="DejaVu Sans"/>
              </a:defRPr>
            </a:defPPr>
          </a:lstStyle>
          <a:p xmlns:a="http://schemas.openxmlformats.org/drawingml/2006/main">
            <a:pPr>
              <a:defRPr sz="1875" b="0">
                <a:solidFill>
                  <a:srgbClr val="A6BBCB"/>
                </a:solidFill>
                <a:latin typeface="DejaVu Sans"/>
                <a:ea typeface="DejaVu Sans"/>
                <a:cs typeface="DejaVu Sans"/>
              </a:defRPr>
            </a:pPr>
            <a:r>
              <a:rPr sz="1875" b="0">
                <a:solidFill>
                  <a:srgbClr val="A6BBCB"/>
                </a:solidFill>
                <a:latin typeface="DejaVu Sans"/>
                <a:ea typeface="DejaVu Sans"/>
                <a:cs typeface="DejaVu Sans"/>
              </a:rPr>
              <a:t>610 rated observations</a:t>
            </a:r>
          </a:p>
        </p:txBody>
      </p:sp>
      <p:sp>
        <p:nvSpPr>
          <p:cNvPr id="8" name="28 analysed files. 7 unsupported metadat">
            <a:extLst xmlns:a="http://schemas.openxmlformats.org/drawingml/2006/main">
              <a:ext uri="{FF2B5EF4-FFF2-40B4-BE49-F238E27FC236}">
                <a16:creationId xmlns:a16="http://schemas.microsoft.com/office/drawing/2014/main" id="{3794F374-83A0-4B75-B8F1-FC2C73E95AC2}"/>
              </a:ext>
            </a:extLst>
          </p:cNvPr>
          <p:cNvSpPr>
            <a:spLocks xmlns:a="http://schemas.openxmlformats.org/drawingml/2006/main" noGrp="1"/>
          </p:cNvSpPr>
          <p:nvPr/>
        </p:nvSpPr>
        <p:spPr>
          <a:xfrm xmlns:a="http://schemas.openxmlformats.org/drawingml/2006/main">
            <a:off x="685800" y="57150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6BBCB"/>
                </a:solidFill>
                <a:latin typeface="DejaVu Sans"/>
                <a:ea typeface="DejaVu Sans"/>
                <a:cs typeface="DejaVu Sans"/>
              </a:defRPr>
            </a:defPPr>
          </a:lstStyle>
          <a:p xmlns:a="http://schemas.openxmlformats.org/drawingml/2006/main">
            <a:pPr>
              <a:defRPr sz="1875" b="0">
                <a:solidFill>
                  <a:srgbClr val="A6BBCB"/>
                </a:solidFill>
                <a:latin typeface="DejaVu Sans"/>
                <a:ea typeface="DejaVu Sans"/>
                <a:cs typeface="DejaVu Sans"/>
              </a:defRPr>
            </a:pPr>
            <a:r>
              <a:rPr sz="1875" b="0">
                <a:solidFill>
                  <a:srgbClr val="A6BBCB"/>
                </a:solidFill>
                <a:latin typeface="DejaVu Sans"/>
                <a:ea typeface="DejaVu Sans"/>
                <a:cs typeface="DejaVu Sans"/>
              </a:rPr>
              <a:t>28 analysed files. 7 unsupported metadata files. 0 errors.</a:t>
            </a:r>
          </a:p>
        </p:txBody>
      </p:sp>
      <p:sp>
        <p:nvSpPr>
          <p:cNvPr id="9" name="Counts describe occurrences. The index i">
            <a:extLst xmlns:a="http://schemas.openxmlformats.org/drawingml/2006/main">
              <a:ext uri="{FF2B5EF4-FFF2-40B4-BE49-F238E27FC236}">
                <a16:creationId xmlns:a16="http://schemas.microsoft.com/office/drawing/2014/main" id="{3BD8BCF3-9BC8-4C51-BC59-07A5F34888FC}"/>
              </a:ext>
            </a:extLst>
          </p:cNvPr>
          <p:cNvSpPr>
            <a:spLocks xmlns:a="http://schemas.openxmlformats.org/drawingml/2006/main" noGrp="1"/>
          </p:cNvSpPr>
          <p:nvPr/>
        </p:nvSpPr>
        <p:spPr>
          <a:xfrm xmlns:a="http://schemas.openxmlformats.org/drawingml/2006/main">
            <a:off x="685800" y="61436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6BBCB"/>
                </a:solidFill>
                <a:latin typeface="DejaVu Sans"/>
                <a:ea typeface="DejaVu Sans"/>
                <a:cs typeface="DejaVu Sans"/>
              </a:defRPr>
            </a:defPPr>
          </a:lstStyle>
          <a:p xmlns:a="http://schemas.openxmlformats.org/drawingml/2006/main">
            <a:pPr>
              <a:defRPr sz="1725" b="0">
                <a:solidFill>
                  <a:srgbClr val="A6BBCB"/>
                </a:solidFill>
                <a:latin typeface="DejaVu Sans"/>
                <a:ea typeface="DejaVu Sans"/>
                <a:cs typeface="DejaVu Sans"/>
              </a:defRPr>
            </a:pPr>
            <a:r>
              <a:rPr sz="1725" b="0">
                <a:solidFill>
                  <a:srgbClr val="A6BBCB"/>
                </a:solidFill>
                <a:latin typeface="DejaVu Sans"/>
                <a:ea typeface="DejaVu Sans"/>
                <a:cs typeface="DejaVu Sans"/>
              </a:rPr>
              <a:t>Counts describe occurrences. The index is a project heuristic.</a:t>
            </a:r>
          </a:p>
        </p:txBody>
      </p:sp>
    </p:spTree>
    <p:extLst>
      <p:ext uri="{BB962C8B-B14F-4D97-AF65-F5344CB8AC3E}">
        <p14:creationId xmlns:p14="http://schemas.microsoft.com/office/powerpoint/2010/main" val="27217732"/>
      </p:ext>
    </p:extLst>
  </p:cSld>
</p:sld>
</file>

<file path=ppt/slides/slide4.xml><?xml version="1.0" encoding="utf-8"?>
<p:sld xmlns:p="http://schemas.openxmlformats.org/presentationml/2006/main">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43769BD-96D7-46AB-9203-56FC450145BC}"/>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New inputs and missing parameters</a:t>
            </a:r>
          </a:p>
        </p:txBody>
      </p:sp>
      <p:sp>
        <p:nvSpPr>
          <p:cNvPr id="2" name="page-number">
            <a:extLst xmlns:a="http://schemas.openxmlformats.org/drawingml/2006/main">
              <a:ext uri="{FF2B5EF4-FFF2-40B4-BE49-F238E27FC236}">
                <a16:creationId xmlns:a16="http://schemas.microsoft.com/office/drawing/2014/main" id="{241183A7-C3CE-48CA-A224-B818E70B1D3C}"/>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4</a:t>
            </a:r>
          </a:p>
        </p:txBody>
      </p:sp>
      <p:graphicFrame>
        <p:nvGraphicFramePr>
          <p:cNvPr id="3" name="">
            <a:extLst xmlns:a="http://schemas.openxmlformats.org/drawingml/2006/main">
              <a:ext uri="{FF2B5EF4-FFF2-40B4-BE49-F238E27FC236}">
                <a16:creationId xmlns:a16="http://schemas.microsoft.com/office/drawing/2014/main" id="{758ACA19-A50F-4971-B4BF-553BD75992F3}"/>
              </a:ext>
            </a:extLst>
          </p:cNvPr>
          <p:cNvGraphicFramePr/>
          <p:nvPr/>
        </p:nvGraphicFramePr>
        <p:xfrm>
          <a:off xmlns:a="http://schemas.openxmlformats.org/drawingml/2006/main" x="685800" y="1819275"/>
          <a:ext xmlns:a="http://schemas.openxmlformats.org/drawingml/2006/main" cx="10820400" cy="3324225"/>
        </p:xfrm>
        <a:graphic xmlns:a="http://schemas.openxmlformats.org/drawingml/2006/main">
          <a:graphicData uri="http://schemas.openxmlformats.org/drawingml/2006/table">
            <a:tbl>
              <a:tblPr firstRow="0" bandRow="0" bandCol="0"/>
              <a:tblGrid>
                <a:gridCol w="4067175"/>
                <a:gridCol w="3286125"/>
                <a:gridCol w="3467100"/>
              </a:tblGrid>
              <a:tr h="831056">
                <a:tc>
                  <a:txBody>
                    <a:bodyPr/>
                    <a:lstStyle/>
                    <a:p>
                      <a:r>
                        <a:rPr sz="2025" b="1">
                          <a:solidFill>
                            <a:srgbClr val="52E1DF"/>
                          </a:solidFill>
                          <a:latin typeface="DejaVu Sans"/>
                          <a:ea typeface="DejaVu Sans"/>
                          <a:cs typeface="DejaVu Sans"/>
                        </a:rPr>
                        <a:t>Example</a:t>
                      </a:r>
                    </a:p>
                  </a:txBody>
                  <a:tcPr marL="38100" marR="171450" marT="76200" marB="76200">
                    <a:solidFill>
                      <a:srgbClr val="0B1620"/>
                    </a:solidFill>
                  </a:tcPr>
                </a:tc>
                <a:tc>
                  <a:txBody>
                    <a:bodyPr/>
                    <a:lstStyle/>
                    <a:p>
                      <a:r>
                        <a:rPr sz="2025" b="1">
                          <a:solidFill>
                            <a:srgbClr val="52E1DF"/>
                          </a:solidFill>
                          <a:latin typeface="DejaVu Sans"/>
                          <a:ea typeface="DejaVu Sans"/>
                          <a:cs typeface="DejaVu Sans"/>
                        </a:rPr>
                        <a:t>Key evidence</a:t>
                      </a:r>
                    </a:p>
                  </a:txBody>
                  <a:tcPr marL="38100" marR="171450" marT="76200" marB="76200">
                    <a:solidFill>
                      <a:srgbClr val="0B1620"/>
                    </a:solidFill>
                  </a:tcPr>
                </a:tc>
                <a:tc>
                  <a:txBody>
                    <a:bodyPr/>
                    <a:lstStyle/>
                    <a:p>
                      <a:r>
                        <a:rPr sz="2025" b="1">
                          <a:solidFill>
                            <a:srgbClr val="52E1DF"/>
                          </a:solidFill>
                          <a:latin typeface="DejaVu Sans"/>
                          <a:ea typeface="DejaVu Sans"/>
                          <a:cs typeface="DejaVu Sans"/>
                        </a:rPr>
                        <a:t>Challenge tier</a:t>
                      </a:r>
                    </a:p>
                  </a:txBody>
                  <a:tcPr marL="38100" marR="171450" marT="76200" marB="76200">
                    <a:solidFill>
                      <a:srgbClr val="0B1620"/>
                    </a:solidFill>
                  </a:tcPr>
                </a:tc>
              </a:tr>
              <a:tr h="831056">
                <a:tc>
                  <a:txBody>
                    <a:bodyPr/>
                    <a:lstStyle/>
                    <a:p>
                      <a:r>
                        <a:rPr sz="2025" b="0">
                          <a:solidFill>
                            <a:srgbClr val="F4F8FC"/>
                          </a:solidFill>
                          <a:latin typeface="DejaVu Sans"/>
                          <a:ea typeface="DejaVu Sans"/>
                          <a:cs typeface="DejaVu Sans"/>
                        </a:rPr>
                        <a:t>01_aes128.py</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token_bytes(16)</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AES-128: medium</a:t>
                      </a:r>
                    </a:p>
                  </a:txBody>
                  <a:tcPr marL="38100" marR="171450" marT="76200" marB="76200">
                    <a:solidFill>
                      <a:srgbClr val="0B1620"/>
                    </a:solidFill>
                  </a:tcPr>
                </a:tc>
              </a:tr>
              <a:tr h="831056">
                <a:tc>
                  <a:txBody>
                    <a:bodyPr/>
                    <a:lstStyle/>
                    <a:p>
                      <a:r>
                        <a:rPr sz="2025" b="0">
                          <a:solidFill>
                            <a:srgbClr val="F4F8FC"/>
                          </a:solidFill>
                          <a:latin typeface="DejaVu Sans"/>
                          <a:ea typeface="DejaVu Sans"/>
                          <a:cs typeface="DejaVu Sans"/>
                        </a:rPr>
                        <a:t>Same file after edit</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token_bytes(32)</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AES-256: resilient</a:t>
                      </a:r>
                    </a:p>
                  </a:txBody>
                  <a:tcPr marL="38100" marR="171450" marT="76200" marB="76200">
                    <a:solidFill>
                      <a:srgbClr val="0B1620"/>
                    </a:solidFill>
                  </a:tcPr>
                </a:tc>
              </a:tr>
              <a:tr h="831056">
                <a:tc>
                  <a:txBody>
                    <a:bodyPr/>
                    <a:lstStyle/>
                    <a:p>
                      <a:r>
                        <a:rPr sz="2025" b="0">
                          <a:solidFill>
                            <a:srgbClr val="F4F8FC"/>
                          </a:solidFill>
                          <a:latin typeface="DejaVu Sans"/>
                          <a:ea typeface="DejaVu Sans"/>
                          <a:cs typeface="DejaVu Sans"/>
                        </a:rPr>
                        <a:t>04_aes_desconhecido.py</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AESGCM(chave)</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Needs review</a:t>
                      </a:r>
                    </a:p>
                  </a:txBody>
                  <a:tcPr marL="38100" marR="171450" marT="76200" marB="76200">
                    <a:solidFill>
                      <a:srgbClr val="0B1620"/>
                    </a:solidFill>
                  </a:tcPr>
                </a:tc>
              </a:tr>
            </a:tbl>
          </a:graphicData>
        </a:graphic>
      </p:graphicFrame>
      <p:sp>
        <p:nvSpPr>
          <p:cNvPr id="4" name="8 additional files. 9 observations. Inde">
            <a:extLst xmlns:a="http://schemas.openxmlformats.org/drawingml/2006/main">
              <a:ext uri="{FF2B5EF4-FFF2-40B4-BE49-F238E27FC236}">
                <a16:creationId xmlns:a16="http://schemas.microsoft.com/office/drawing/2014/main" id="{F2566A3B-64C1-4AF2-99BA-0F57C820D357}"/>
              </a:ext>
            </a:extLst>
          </p:cNvPr>
          <p:cNvSpPr>
            <a:spLocks xmlns:a="http://schemas.openxmlformats.org/drawingml/2006/main" noGrp="1"/>
          </p:cNvSpPr>
          <p:nvPr/>
        </p:nvSpPr>
        <p:spPr>
          <a:xfrm xmlns:a="http://schemas.openxmlformats.org/drawingml/2006/main">
            <a:off x="685800" y="55245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E1DF"/>
                </a:solidFill>
                <a:latin typeface="DejaVu Sans"/>
                <a:ea typeface="DejaVu Sans"/>
                <a:cs typeface="DejaVu Sans"/>
              </a:defRPr>
            </a:defPPr>
          </a:lstStyle>
          <a:p xmlns:a="http://schemas.openxmlformats.org/drawingml/2006/main">
            <a:pPr>
              <a:defRPr sz="2175" b="0">
                <a:solidFill>
                  <a:srgbClr val="52E1DF"/>
                </a:solidFill>
                <a:latin typeface="DejaVu Sans"/>
                <a:ea typeface="DejaVu Sans"/>
                <a:cs typeface="DejaVu Sans"/>
              </a:defRPr>
            </a:pPr>
            <a:r>
              <a:rPr sz="2175" b="0">
                <a:solidFill>
                  <a:srgbClr val="52E1DF"/>
                </a:solidFill>
                <a:latin typeface="DejaVu Sans"/>
                <a:ea typeface="DejaVu Sans"/>
                <a:cs typeface="DejaVu Sans"/>
              </a:rPr>
              <a:t>8 additional files. 9 observations. Index 37.5 before the edit.</a:t>
            </a:r>
          </a:p>
        </p:txBody>
      </p:sp>
      <p:sp>
        <p:nvSpPr>
          <p:cNvPr id="5" name="A key-size change updates the inventory.">
            <a:extLst xmlns:a="http://schemas.openxmlformats.org/drawingml/2006/main">
              <a:ext uri="{FF2B5EF4-FFF2-40B4-BE49-F238E27FC236}">
                <a16:creationId xmlns:a16="http://schemas.microsoft.com/office/drawing/2014/main" id="{5B85C462-C9A0-4795-93B9-1B60FD2FCBA8}"/>
              </a:ext>
            </a:extLst>
          </p:cNvPr>
          <p:cNvSpPr>
            <a:spLocks xmlns:a="http://schemas.openxmlformats.org/drawingml/2006/main" noGrp="1"/>
          </p:cNvSpPr>
          <p:nvPr/>
        </p:nvSpPr>
        <p:spPr>
          <a:xfrm xmlns:a="http://schemas.openxmlformats.org/drawingml/2006/main">
            <a:off x="685800" y="61150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6BBCB"/>
                </a:solidFill>
                <a:latin typeface="DejaVu Sans"/>
                <a:ea typeface="DejaVu Sans"/>
                <a:cs typeface="DejaVu Sans"/>
              </a:defRPr>
            </a:defPPr>
          </a:lstStyle>
          <a:p xmlns:a="http://schemas.openxmlformats.org/drawingml/2006/main">
            <a:pPr>
              <a:defRPr sz="1725" b="0">
                <a:solidFill>
                  <a:srgbClr val="A6BBCB"/>
                </a:solidFill>
                <a:latin typeface="DejaVu Sans"/>
                <a:ea typeface="DejaVu Sans"/>
                <a:cs typeface="DejaVu Sans"/>
              </a:defRPr>
            </a:pPr>
            <a:r>
              <a:rPr sz="1725" b="0">
                <a:solidFill>
                  <a:srgbClr val="A6BBCB"/>
                </a:solidFill>
                <a:latin typeface="DejaVu Sans"/>
                <a:ea typeface="DejaVu Sans"/>
                <a:cs typeface="DejaVu Sans"/>
              </a:rPr>
              <a:t>A key-size change updates the inventory. Missing size stays unresolved.</a:t>
            </a:r>
          </a:p>
        </p:txBody>
      </p:sp>
    </p:spTree>
    <p:extLst>
      <p:ext uri="{BB962C8B-B14F-4D97-AF65-F5344CB8AC3E}">
        <p14:creationId xmlns:p14="http://schemas.microsoft.com/office/powerpoint/2010/main" val="1351350399"/>
      </p:ext>
    </p:extLst>
  </p:cSld>
</p:sld>
</file>

<file path=ppt/slides/slide5.xml><?xml version="1.0" encoding="utf-8"?>
<p:sld xmlns:p="http://schemas.openxmlformats.org/presentationml/2006/main">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EC00B13-9AA9-4E5B-8EDE-0AAC42607AFF}"/>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Evidence for migration decisions</a:t>
            </a:r>
          </a:p>
        </p:txBody>
      </p:sp>
      <p:sp>
        <p:nvSpPr>
          <p:cNvPr id="2" name="page-number">
            <a:extLst xmlns:a="http://schemas.openxmlformats.org/drawingml/2006/main">
              <a:ext uri="{FF2B5EF4-FFF2-40B4-BE49-F238E27FC236}">
                <a16:creationId xmlns:a16="http://schemas.microsoft.com/office/drawing/2014/main" id="{930B9DDE-1691-404C-B460-5574135D13BE}"/>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5</a:t>
            </a:r>
          </a:p>
        </p:txBody>
      </p:sp>
      <p:sp>
        <p:nvSpPr>
          <p:cNvPr id="3" name="86">
            <a:extLst xmlns:a="http://schemas.openxmlformats.org/drawingml/2006/main">
              <a:ext uri="{FF2B5EF4-FFF2-40B4-BE49-F238E27FC236}">
                <a16:creationId xmlns:a16="http://schemas.microsoft.com/office/drawing/2014/main" id="{B4A72244-6678-4240-88D8-DA469C74AC8E}"/>
              </a:ext>
            </a:extLst>
          </p:cNvPr>
          <p:cNvSpPr>
            <a:spLocks xmlns:a="http://schemas.openxmlformats.org/drawingml/2006/main" noGrp="1"/>
          </p:cNvSpPr>
          <p:nvPr/>
        </p:nvSpPr>
        <p:spPr>
          <a:xfrm xmlns:a="http://schemas.openxmlformats.org/drawingml/2006/main">
            <a:off x="685800" y="1885950"/>
            <a:ext cx="2667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52E1DF"/>
                </a:solidFill>
                <a:latin typeface="DejaVu Sans"/>
                <a:ea typeface="DejaVu Sans"/>
                <a:cs typeface="DejaVu Sans"/>
              </a:defRPr>
            </a:defPPr>
          </a:lstStyle>
          <a:p xmlns:a="http://schemas.openxmlformats.org/drawingml/2006/main">
            <a:pPr>
              <a:defRPr sz="8250" b="1">
                <a:solidFill>
                  <a:srgbClr val="52E1DF"/>
                </a:solidFill>
                <a:latin typeface="DejaVu Sans"/>
                <a:ea typeface="DejaVu Sans"/>
                <a:cs typeface="DejaVu Sans"/>
              </a:defRPr>
            </a:pPr>
            <a:r>
              <a:rPr sz="8250" b="1">
                <a:solidFill>
                  <a:srgbClr val="52E1DF"/>
                </a:solidFill>
                <a:latin typeface="DejaVu Sans"/>
                <a:ea typeface="DejaVu Sans"/>
                <a:cs typeface="DejaVu Sans"/>
              </a:rPr>
              <a:t>86</a:t>
            </a:r>
          </a:p>
        </p:txBody>
      </p:sp>
      <p:sp>
        <p:nvSpPr>
          <p:cNvPr id="4" name="automated tests passed">
            <a:extLst xmlns:a="http://schemas.openxmlformats.org/drawingml/2006/main">
              <a:ext uri="{FF2B5EF4-FFF2-40B4-BE49-F238E27FC236}">
                <a16:creationId xmlns:a16="http://schemas.microsoft.com/office/drawing/2014/main" id="{6828BD8C-6B30-4A97-83AA-C84EA79EC3DF}"/>
              </a:ext>
            </a:extLst>
          </p:cNvPr>
          <p:cNvSpPr>
            <a:spLocks xmlns:a="http://schemas.openxmlformats.org/drawingml/2006/main" noGrp="1"/>
          </p:cNvSpPr>
          <p:nvPr/>
        </p:nvSpPr>
        <p:spPr>
          <a:xfrm xmlns:a="http://schemas.openxmlformats.org/drawingml/2006/main">
            <a:off x="685800" y="32480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4F8FC"/>
                </a:solidFill>
                <a:latin typeface="DejaVu Sans"/>
                <a:ea typeface="DejaVu Sans"/>
                <a:cs typeface="DejaVu Sans"/>
              </a:defRPr>
            </a:defPPr>
          </a:lstStyle>
          <a:p xmlns:a="http://schemas.openxmlformats.org/drawingml/2006/main">
            <a:pPr>
              <a:defRPr sz="2325" b="0">
                <a:solidFill>
                  <a:srgbClr val="F4F8FC"/>
                </a:solidFill>
                <a:latin typeface="DejaVu Sans"/>
                <a:ea typeface="DejaVu Sans"/>
                <a:cs typeface="DejaVu Sans"/>
              </a:defRPr>
            </a:pPr>
            <a:r>
              <a:rPr sz="2325" b="0">
                <a:solidFill>
                  <a:srgbClr val="F4F8FC"/>
                </a:solidFill>
                <a:latin typeface="DejaVu Sans"/>
                <a:ea typeface="DejaVu Sans"/>
                <a:cs typeface="DejaVu Sans"/>
              </a:rPr>
              <a:t>automated tests passed</a:t>
            </a:r>
          </a:p>
        </p:txBody>
      </p:sp>
      <p:sp>
        <p:nvSpPr>
          <p:cNvPr id="5" name="Manual expectations across&#10;24 supplied s">
            <a:extLst xmlns:a="http://schemas.openxmlformats.org/drawingml/2006/main">
              <a:ext uri="{FF2B5EF4-FFF2-40B4-BE49-F238E27FC236}">
                <a16:creationId xmlns:a16="http://schemas.microsoft.com/office/drawing/2014/main" id="{F6DF5C5E-B0D4-47AB-9D93-52BE5B04D548}"/>
              </a:ext>
            </a:extLst>
          </p:cNvPr>
          <p:cNvSpPr>
            <a:spLocks xmlns:a="http://schemas.openxmlformats.org/drawingml/2006/main" noGrp="1"/>
          </p:cNvSpPr>
          <p:nvPr/>
        </p:nvSpPr>
        <p:spPr>
          <a:xfrm xmlns:a="http://schemas.openxmlformats.org/drawingml/2006/main">
            <a:off x="685800" y="4181475"/>
            <a:ext cx="50101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6BBCB"/>
                </a:solidFill>
                <a:latin typeface="DejaVu Sans"/>
                <a:ea typeface="DejaVu Sans"/>
                <a:cs typeface="DejaVu Sans"/>
              </a:defRPr>
            </a:defPPr>
          </a:lstStyle>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Manual expectations across</a:t>
            </a:r>
          </a:p>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24 supplied source files</a:t>
            </a:r>
          </a:p>
        </p:txBody>
      </p:sp>
      <p:sp>
        <p:nvSpPr>
          <p:cNvPr id="6" name="Traceable findings">
            <a:extLst xmlns:a="http://schemas.openxmlformats.org/drawingml/2006/main">
              <a:ext uri="{FF2B5EF4-FFF2-40B4-BE49-F238E27FC236}">
                <a16:creationId xmlns:a16="http://schemas.microsoft.com/office/drawing/2014/main" id="{92B608C2-DEAF-4C36-9804-7DDCF8C4D987}"/>
              </a:ext>
            </a:extLst>
          </p:cNvPr>
          <p:cNvSpPr>
            <a:spLocks xmlns:a="http://schemas.openxmlformats.org/drawingml/2006/main" noGrp="1"/>
          </p:cNvSpPr>
          <p:nvPr/>
        </p:nvSpPr>
        <p:spPr>
          <a:xfrm xmlns:a="http://schemas.openxmlformats.org/drawingml/2006/main">
            <a:off x="6334125" y="1924050"/>
            <a:ext cx="5143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F4F8FC"/>
                </a:solidFill>
                <a:latin typeface="DejaVu Sans"/>
                <a:ea typeface="DejaVu Sans"/>
                <a:cs typeface="DejaVu Sans"/>
              </a:defRPr>
            </a:defPPr>
          </a:lstStyle>
          <a:p xmlns:a="http://schemas.openxmlformats.org/drawingml/2006/main">
            <a:pPr>
              <a:defRPr sz="2625" b="1">
                <a:solidFill>
                  <a:srgbClr val="F4F8FC"/>
                </a:solidFill>
                <a:latin typeface="DejaVu Sans"/>
                <a:ea typeface="DejaVu Sans"/>
                <a:cs typeface="DejaVu Sans"/>
              </a:defRPr>
            </a:pPr>
            <a:r>
              <a:rPr sz="2625" b="1">
                <a:solidFill>
                  <a:srgbClr val="F4F8FC"/>
                </a:solidFill>
                <a:latin typeface="DejaVu Sans"/>
                <a:ea typeface="DejaVu Sans"/>
                <a:cs typeface="DejaVu Sans"/>
              </a:rPr>
              <a:t>Traceable findings</a:t>
            </a:r>
          </a:p>
        </p:txBody>
      </p:sp>
      <p:sp>
        <p:nvSpPr>
          <p:cNvPr id="7" name="Evidence, rules and next steps&#10;grouped b">
            <a:extLst xmlns:a="http://schemas.openxmlformats.org/drawingml/2006/main">
              <a:ext uri="{FF2B5EF4-FFF2-40B4-BE49-F238E27FC236}">
                <a16:creationId xmlns:a16="http://schemas.microsoft.com/office/drawing/2014/main" id="{AD7DE185-25C8-47B6-AB40-4A50BAAD9236}"/>
              </a:ext>
            </a:extLst>
          </p:cNvPr>
          <p:cNvSpPr>
            <a:spLocks xmlns:a="http://schemas.openxmlformats.org/drawingml/2006/main" noGrp="1"/>
          </p:cNvSpPr>
          <p:nvPr/>
        </p:nvSpPr>
        <p:spPr>
          <a:xfrm xmlns:a="http://schemas.openxmlformats.org/drawingml/2006/main">
            <a:off x="6334125" y="2609850"/>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6BBCB"/>
                </a:solidFill>
                <a:latin typeface="DejaVu Sans"/>
                <a:ea typeface="DejaVu Sans"/>
                <a:cs typeface="DejaVu Sans"/>
              </a:defRPr>
            </a:defPPr>
          </a:lstStyle>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Evidence, rules and next steps</a:t>
            </a:r>
          </a:p>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grouped by file or resource</a:t>
            </a:r>
          </a:p>
        </p:txBody>
      </p:sp>
      <p:sp>
        <p:nvSpPr>
          <p:cNvPr id="8" name="Unresolved cases stay visible">
            <a:extLst xmlns:a="http://schemas.openxmlformats.org/drawingml/2006/main">
              <a:ext uri="{FF2B5EF4-FFF2-40B4-BE49-F238E27FC236}">
                <a16:creationId xmlns:a16="http://schemas.microsoft.com/office/drawing/2014/main" id="{106EEB4D-89AF-4504-AF4A-59B8BE8AE5E1}"/>
              </a:ext>
            </a:extLst>
          </p:cNvPr>
          <p:cNvSpPr>
            <a:spLocks xmlns:a="http://schemas.openxmlformats.org/drawingml/2006/main" noGrp="1"/>
          </p:cNvSpPr>
          <p:nvPr/>
        </p:nvSpPr>
        <p:spPr>
          <a:xfrm xmlns:a="http://schemas.openxmlformats.org/drawingml/2006/main">
            <a:off x="6334125" y="3857625"/>
            <a:ext cx="514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4F8FC"/>
                </a:solidFill>
                <a:latin typeface="DejaVu Sans"/>
                <a:ea typeface="DejaVu Sans"/>
                <a:cs typeface="DejaVu Sans"/>
              </a:defRPr>
            </a:defPPr>
          </a:lstStyle>
          <a:p xmlns:a="http://schemas.openxmlformats.org/drawingml/2006/main">
            <a:pPr>
              <a:defRPr sz="2400" b="1">
                <a:solidFill>
                  <a:srgbClr val="F4F8FC"/>
                </a:solidFill>
                <a:latin typeface="DejaVu Sans"/>
                <a:ea typeface="DejaVu Sans"/>
                <a:cs typeface="DejaVu Sans"/>
              </a:defRPr>
            </a:pPr>
            <a:r>
              <a:rPr sz="2400" b="1">
                <a:solidFill>
                  <a:srgbClr val="F4F8FC"/>
                </a:solidFill>
                <a:latin typeface="DejaVu Sans"/>
                <a:ea typeface="DejaVu Sans"/>
                <a:cs typeface="DejaVu Sans"/>
              </a:rPr>
              <a:t>Unresolved cases stay visible</a:t>
            </a:r>
          </a:p>
        </p:txBody>
      </p:sp>
      <p:sp>
        <p:nvSpPr>
          <p:cNvPr id="9" name="Production accuracy remains&#10;unmeasured">
            <a:extLst xmlns:a="http://schemas.openxmlformats.org/drawingml/2006/main">
              <a:ext uri="{FF2B5EF4-FFF2-40B4-BE49-F238E27FC236}">
                <a16:creationId xmlns:a16="http://schemas.microsoft.com/office/drawing/2014/main" id="{FFC4CF3D-B300-4C99-9F61-554A98814ACD}"/>
              </a:ext>
            </a:extLst>
          </p:cNvPr>
          <p:cNvSpPr>
            <a:spLocks xmlns:a="http://schemas.openxmlformats.org/drawingml/2006/main" noGrp="1"/>
          </p:cNvSpPr>
          <p:nvPr/>
        </p:nvSpPr>
        <p:spPr>
          <a:xfrm xmlns:a="http://schemas.openxmlformats.org/drawingml/2006/main">
            <a:off x="6334125" y="4619625"/>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6BBCB"/>
                </a:solidFill>
                <a:latin typeface="DejaVu Sans"/>
                <a:ea typeface="DejaVu Sans"/>
                <a:cs typeface="DejaVu Sans"/>
              </a:defRPr>
            </a:defPPr>
          </a:lstStyle>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Production accuracy remains</a:t>
            </a:r>
          </a:p>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unmeasured</a:t>
            </a:r>
          </a:p>
        </p:txBody>
      </p:sp>
      <p:sp>
        <p:nvSpPr>
          <p:cNvPr id="10" name="Next: broader detection, independent eva">
            <a:extLst xmlns:a="http://schemas.openxmlformats.org/drawingml/2006/main">
              <a:ext uri="{FF2B5EF4-FFF2-40B4-BE49-F238E27FC236}">
                <a16:creationId xmlns:a16="http://schemas.microsoft.com/office/drawing/2014/main" id="{522E8A44-09F5-4B40-A254-90BA7E54CDFD}"/>
              </a:ext>
            </a:extLst>
          </p:cNvPr>
          <p:cNvSpPr>
            <a:spLocks xmlns:a="http://schemas.openxmlformats.org/drawingml/2006/main" noGrp="1"/>
          </p:cNvSpPr>
          <p:nvPr/>
        </p:nvSpPr>
        <p:spPr>
          <a:xfrm xmlns:a="http://schemas.openxmlformats.org/drawingml/2006/main">
            <a:off x="685800" y="57245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E1DF"/>
                </a:solidFill>
                <a:latin typeface="DejaVu Sans"/>
                <a:ea typeface="DejaVu Sans"/>
                <a:cs typeface="DejaVu Sans"/>
              </a:defRPr>
            </a:defPPr>
          </a:lstStyle>
          <a:p xmlns:a="http://schemas.openxmlformats.org/drawingml/2006/main">
            <a:pPr>
              <a:defRPr sz="2175" b="0">
                <a:solidFill>
                  <a:srgbClr val="52E1DF"/>
                </a:solidFill>
                <a:latin typeface="DejaVu Sans"/>
                <a:ea typeface="DejaVu Sans"/>
                <a:cs typeface="DejaVu Sans"/>
              </a:defRPr>
            </a:pPr>
            <a:r>
              <a:rPr sz="2175" b="0">
                <a:solidFill>
                  <a:srgbClr val="52E1DF"/>
                </a:solidFill>
                <a:latin typeface="DejaVu Sans"/>
                <a:ea typeface="DejaVu Sans"/>
                <a:cs typeface="DejaVu Sans"/>
              </a:rPr>
              <a:t>Next: broader detection, independent evaluation and CycloneDX</a:t>
            </a:r>
          </a:p>
        </p:txBody>
      </p:sp>
    </p:spTree>
    <p:extLst>
      <p:ext uri="{BB962C8B-B14F-4D97-AF65-F5344CB8AC3E}">
        <p14:creationId xmlns:p14="http://schemas.microsoft.com/office/powerpoint/2010/main" val="710522102"/>
      </p:ext>
    </p:extLst>
  </p:cSld>
</p:sld>
</file>

<file path=ppt/slides/slide6.xml><?xml version="1.0" encoding="utf-8"?>
<p:sld xmlns:p="http://schemas.openxmlformats.org/presentationml/2006/main" show="0">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1324755-04FB-476F-BD45-E0FBA378A380}"/>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Primitive exposure index</a:t>
            </a:r>
          </a:p>
        </p:txBody>
      </p:sp>
      <p:sp>
        <p:nvSpPr>
          <p:cNvPr id="2" name="page-number">
            <a:extLst xmlns:a="http://schemas.openxmlformats.org/drawingml/2006/main">
              <a:ext uri="{FF2B5EF4-FFF2-40B4-BE49-F238E27FC236}">
                <a16:creationId xmlns:a16="http://schemas.microsoft.com/office/drawing/2014/main" id="{D2308924-3C85-4D68-97B6-E53003814F3B}"/>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6</a:t>
            </a:r>
          </a:p>
        </p:txBody>
      </p:sp>
      <p:graphicFrame>
        <p:nvGraphicFramePr>
          <p:cNvPr id="3" name="">
            <a:extLst xmlns:a="http://schemas.openxmlformats.org/drawingml/2006/main">
              <a:ext uri="{FF2B5EF4-FFF2-40B4-BE49-F238E27FC236}">
                <a16:creationId xmlns:a16="http://schemas.microsoft.com/office/drawing/2014/main" id="{035BB89C-A12E-45E6-8C1D-AB45CBF985BC}"/>
              </a:ext>
            </a:extLst>
          </p:cNvPr>
          <p:cNvGraphicFramePr/>
          <p:nvPr/>
        </p:nvGraphicFramePr>
        <p:xfrm>
          <a:off xmlns:a="http://schemas.openxmlformats.org/drawingml/2006/main" x="685800" y="1781175"/>
          <a:ext xmlns:a="http://schemas.openxmlformats.org/drawingml/2006/main" cx="5543550" cy="3152775"/>
        </p:xfrm>
        <a:graphic xmlns:a="http://schemas.openxmlformats.org/drawingml/2006/main">
          <a:graphicData uri="http://schemas.openxmlformats.org/drawingml/2006/table">
            <a:tbl>
              <a:tblPr firstRow="0" bandRow="0" bandCol="0"/>
              <a:tblGrid>
                <a:gridCol w="2400300"/>
                <a:gridCol w="1409700"/>
                <a:gridCol w="1733550"/>
              </a:tblGrid>
              <a:tr h="630555">
                <a:tc>
                  <a:txBody>
                    <a:bodyPr/>
                    <a:lstStyle/>
                    <a:p>
                      <a:r>
                        <a:rPr sz="2025" b="1">
                          <a:solidFill>
                            <a:srgbClr val="52E1DF"/>
                          </a:solidFill>
                          <a:latin typeface="DejaVu Sans"/>
                          <a:ea typeface="DejaVu Sans"/>
                          <a:cs typeface="DejaVu Sans"/>
                        </a:rPr>
                        <a:t>Tier</a:t>
                      </a:r>
                    </a:p>
                  </a:txBody>
                  <a:tcPr marL="38100" marR="171450" marT="76200" marB="76200">
                    <a:solidFill>
                      <a:srgbClr val="0B1620"/>
                    </a:solidFill>
                  </a:tcPr>
                </a:tc>
                <a:tc>
                  <a:txBody>
                    <a:bodyPr/>
                    <a:lstStyle/>
                    <a:p>
                      <a:r>
                        <a:rPr sz="2025" b="1">
                          <a:solidFill>
                            <a:srgbClr val="52E1DF"/>
                          </a:solidFill>
                          <a:latin typeface="DejaVu Sans"/>
                          <a:ea typeface="DejaVu Sans"/>
                          <a:cs typeface="DejaVu Sans"/>
                        </a:rPr>
                        <a:t>Weight</a:t>
                      </a:r>
                    </a:p>
                  </a:txBody>
                  <a:tcPr marL="38100" marR="171450" marT="76200" marB="76200">
                    <a:solidFill>
                      <a:srgbClr val="0B1620"/>
                    </a:solidFill>
                  </a:tcPr>
                </a:tc>
                <a:tc>
                  <a:txBody>
                    <a:bodyPr/>
                    <a:lstStyle/>
                    <a:p>
                      <a:r>
                        <a:rPr sz="2025" b="1">
                          <a:solidFill>
                            <a:srgbClr val="52E1DF"/>
                          </a:solidFill>
                          <a:latin typeface="DejaVu Sans"/>
                          <a:ea typeface="DejaVu Sans"/>
                          <a:cs typeface="DejaVu Sans"/>
                        </a:rPr>
                        <a:t>Extra cases</a:t>
                      </a:r>
                    </a:p>
                  </a:txBody>
                  <a:tcPr marL="38100" marR="171450" marT="76200" marB="76200">
                    <a:solidFill>
                      <a:srgbClr val="0B1620"/>
                    </a:solidFill>
                  </a:tcPr>
                </a:tc>
              </a:tr>
              <a:tr h="630555">
                <a:tc>
                  <a:txBody>
                    <a:bodyPr/>
                    <a:lstStyle/>
                    <a:p>
                      <a:r>
                        <a:rPr sz="2025" b="0">
                          <a:solidFill>
                            <a:srgbClr val="F4F8FC"/>
                          </a:solidFill>
                          <a:latin typeface="DejaVu Sans"/>
                          <a:ea typeface="DejaVu Sans"/>
                          <a:cs typeface="DejaVu Sans"/>
                        </a:rPr>
                        <a:t>Critical</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100</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2</a:t>
                      </a:r>
                    </a:p>
                  </a:txBody>
                  <a:tcPr marL="38100" marR="171450" marT="76200" marB="76200">
                    <a:solidFill>
                      <a:srgbClr val="0B1620"/>
                    </a:solidFill>
                  </a:tcPr>
                </a:tc>
              </a:tr>
              <a:tr h="630555">
                <a:tc>
                  <a:txBody>
                    <a:bodyPr/>
                    <a:lstStyle/>
                    <a:p>
                      <a:r>
                        <a:rPr sz="2025" b="0">
                          <a:solidFill>
                            <a:srgbClr val="F4F8FC"/>
                          </a:solidFill>
                          <a:latin typeface="DejaVu Sans"/>
                          <a:ea typeface="DejaVu Sans"/>
                          <a:cs typeface="DejaVu Sans"/>
                        </a:rPr>
                        <a:t>Medium</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50</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2</a:t>
                      </a:r>
                    </a:p>
                  </a:txBody>
                  <a:tcPr marL="38100" marR="171450" marT="76200" marB="76200">
                    <a:solidFill>
                      <a:srgbClr val="0B1620"/>
                    </a:solidFill>
                  </a:tcPr>
                </a:tc>
              </a:tr>
              <a:tr h="630555">
                <a:tc>
                  <a:txBody>
                    <a:bodyPr/>
                    <a:lstStyle/>
                    <a:p>
                      <a:r>
                        <a:rPr sz="2025" b="0">
                          <a:solidFill>
                            <a:srgbClr val="F4F8FC"/>
                          </a:solidFill>
                          <a:latin typeface="DejaVu Sans"/>
                          <a:ea typeface="DejaVu Sans"/>
                          <a:cs typeface="DejaVu Sans"/>
                        </a:rPr>
                        <a:t>Resilient</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0</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4</a:t>
                      </a:r>
                    </a:p>
                  </a:txBody>
                  <a:tcPr marL="38100" marR="171450" marT="76200" marB="76200">
                    <a:solidFill>
                      <a:srgbClr val="0B1620"/>
                    </a:solidFill>
                  </a:tcPr>
                </a:tc>
              </a:tr>
              <a:tr h="630555">
                <a:tc>
                  <a:txBody>
                    <a:bodyPr/>
                    <a:lstStyle/>
                    <a:p>
                      <a:r>
                        <a:rPr sz="2025" b="0">
                          <a:solidFill>
                            <a:srgbClr val="F4F8FC"/>
                          </a:solidFill>
                          <a:latin typeface="DejaVu Sans"/>
                          <a:ea typeface="DejaVu Sans"/>
                          <a:cs typeface="DejaVu Sans"/>
                        </a:rPr>
                        <a:t>Needs review</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Excluded</a:t>
                      </a:r>
                    </a:p>
                  </a:txBody>
                  <a:tcPr marL="38100" marR="171450" marT="76200" marB="76200">
                    <a:solidFill>
                      <a:srgbClr val="0B1620"/>
                    </a:solidFill>
                  </a:tcPr>
                </a:tc>
                <a:tc>
                  <a:txBody>
                    <a:bodyPr/>
                    <a:lstStyle/>
                    <a:p>
                      <a:r>
                        <a:rPr sz="2025" b="0">
                          <a:solidFill>
                            <a:srgbClr val="F4F8FC"/>
                          </a:solidFill>
                          <a:latin typeface="DejaVu Sans"/>
                          <a:ea typeface="DejaVu Sans"/>
                          <a:cs typeface="DejaVu Sans"/>
                        </a:rPr>
                        <a:t>1</a:t>
                      </a:r>
                    </a:p>
                  </a:txBody>
                  <a:tcPr marL="38100" marR="171450" marT="76200" marB="76200">
                    <a:solidFill>
                      <a:srgbClr val="0B1620"/>
                    </a:solidFill>
                  </a:tcPr>
                </a:tc>
              </a:tr>
            </a:tbl>
          </a:graphicData>
        </a:graphic>
      </p:graphicFrame>
      <p:sp>
        <p:nvSpPr>
          <p:cNvPr id="4" name="37.5">
            <a:extLst xmlns:a="http://schemas.openxmlformats.org/drawingml/2006/main">
              <a:ext uri="{FF2B5EF4-FFF2-40B4-BE49-F238E27FC236}">
                <a16:creationId xmlns:a16="http://schemas.microsoft.com/office/drawing/2014/main" id="{21031025-AAFE-4223-9BCA-E3FA8AE70756}"/>
              </a:ext>
            </a:extLst>
          </p:cNvPr>
          <p:cNvSpPr>
            <a:spLocks xmlns:a="http://schemas.openxmlformats.org/drawingml/2006/main" noGrp="1"/>
          </p:cNvSpPr>
          <p:nvPr/>
        </p:nvSpPr>
        <p:spPr>
          <a:xfrm xmlns:a="http://schemas.openxmlformats.org/drawingml/2006/main">
            <a:off x="7239000" y="201930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350" b="1">
                <a:solidFill>
                  <a:srgbClr val="F4F8FC"/>
                </a:solidFill>
                <a:latin typeface="DejaVu Sans"/>
                <a:ea typeface="DejaVu Sans"/>
                <a:cs typeface="DejaVu Sans"/>
              </a:defRPr>
            </a:defPPr>
          </a:lstStyle>
          <a:p xmlns:a="http://schemas.openxmlformats.org/drawingml/2006/main">
            <a:pPr>
              <a:defRPr sz="7350" b="1">
                <a:solidFill>
                  <a:srgbClr val="F4F8FC"/>
                </a:solidFill>
                <a:latin typeface="DejaVu Sans"/>
                <a:ea typeface="DejaVu Sans"/>
                <a:cs typeface="DejaVu Sans"/>
              </a:defRPr>
            </a:pPr>
            <a:r>
              <a:rPr sz="7350" b="1">
                <a:solidFill>
                  <a:srgbClr val="F4F8FC"/>
                </a:solidFill>
                <a:latin typeface="DejaVu Sans"/>
                <a:ea typeface="DejaVu Sans"/>
                <a:cs typeface="DejaVu Sans"/>
              </a:rPr>
              <a:t>37.5</a:t>
            </a:r>
          </a:p>
        </p:txBody>
      </p:sp>
      <p:sp>
        <p:nvSpPr>
          <p:cNvPr id="5" name="200 + 100 + 0 = 300">
            <a:extLst xmlns:a="http://schemas.openxmlformats.org/drawingml/2006/main">
              <a:ext uri="{FF2B5EF4-FFF2-40B4-BE49-F238E27FC236}">
                <a16:creationId xmlns:a16="http://schemas.microsoft.com/office/drawing/2014/main" id="{DAC3C2AC-64FC-4BA2-A3A0-CCB470CB6BC3}"/>
              </a:ext>
            </a:extLst>
          </p:cNvPr>
          <p:cNvSpPr>
            <a:spLocks xmlns:a="http://schemas.openxmlformats.org/drawingml/2006/main" noGrp="1"/>
          </p:cNvSpPr>
          <p:nvPr/>
        </p:nvSpPr>
        <p:spPr>
          <a:xfrm xmlns:a="http://schemas.openxmlformats.org/drawingml/2006/main">
            <a:off x="7191375" y="3524250"/>
            <a:ext cx="423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E1DF"/>
                </a:solidFill>
                <a:latin typeface="DejaVu Sans"/>
                <a:ea typeface="DejaVu Sans"/>
                <a:cs typeface="DejaVu Sans"/>
              </a:defRPr>
            </a:defPPr>
          </a:lstStyle>
          <a:p xmlns:a="http://schemas.openxmlformats.org/drawingml/2006/main">
            <a:pPr>
              <a:defRPr sz="2100" b="0">
                <a:solidFill>
                  <a:srgbClr val="52E1DF"/>
                </a:solidFill>
                <a:latin typeface="DejaVu Sans"/>
                <a:ea typeface="DejaVu Sans"/>
                <a:cs typeface="DejaVu Sans"/>
              </a:defRPr>
            </a:pPr>
            <a:r>
              <a:rPr sz="2100" b="0">
                <a:solidFill>
                  <a:srgbClr val="52E1DF"/>
                </a:solidFill>
                <a:latin typeface="DejaVu Sans"/>
                <a:ea typeface="DejaVu Sans"/>
                <a:cs typeface="DejaVu Sans"/>
              </a:rPr>
              <a:t>200 + 100 + 0 = 300</a:t>
            </a:r>
          </a:p>
        </p:txBody>
      </p:sp>
      <p:sp>
        <p:nvSpPr>
          <p:cNvPr id="6" name="300 / 8 rated observations">
            <a:extLst xmlns:a="http://schemas.openxmlformats.org/drawingml/2006/main">
              <a:ext uri="{FF2B5EF4-FFF2-40B4-BE49-F238E27FC236}">
                <a16:creationId xmlns:a16="http://schemas.microsoft.com/office/drawing/2014/main" id="{5FE66EF9-ED10-4065-B55C-ACC7125CEBF8}"/>
              </a:ext>
            </a:extLst>
          </p:cNvPr>
          <p:cNvSpPr>
            <a:spLocks xmlns:a="http://schemas.openxmlformats.org/drawingml/2006/main" noGrp="1"/>
          </p:cNvSpPr>
          <p:nvPr/>
        </p:nvSpPr>
        <p:spPr>
          <a:xfrm xmlns:a="http://schemas.openxmlformats.org/drawingml/2006/main">
            <a:off x="7191375" y="4143375"/>
            <a:ext cx="4333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6BBCB"/>
                </a:solidFill>
                <a:latin typeface="DejaVu Sans"/>
                <a:ea typeface="DejaVu Sans"/>
                <a:cs typeface="DejaVu Sans"/>
              </a:defRPr>
            </a:defPPr>
          </a:lstStyle>
          <a:p xmlns:a="http://schemas.openxmlformats.org/drawingml/2006/main">
            <a:pPr>
              <a:defRPr sz="2100" b="0">
                <a:solidFill>
                  <a:srgbClr val="A6BBCB"/>
                </a:solidFill>
                <a:latin typeface="DejaVu Sans"/>
                <a:ea typeface="DejaVu Sans"/>
                <a:cs typeface="DejaVu Sans"/>
              </a:defRPr>
            </a:pPr>
            <a:r>
              <a:rPr sz="2100" b="0">
                <a:solidFill>
                  <a:srgbClr val="A6BBCB"/>
                </a:solidFill>
                <a:latin typeface="DejaVu Sans"/>
                <a:ea typeface="DejaVu Sans"/>
                <a:cs typeface="DejaVu Sans"/>
              </a:rPr>
              <a:t>300 / 8 rated observations</a:t>
            </a:r>
          </a:p>
        </p:txBody>
      </p:sp>
      <p:sp>
        <p:nvSpPr>
          <p:cNvPr id="7" name="Challenge: 37,500 / 610 = 61.5">
            <a:extLst xmlns:a="http://schemas.openxmlformats.org/drawingml/2006/main">
              <a:ext uri="{FF2B5EF4-FFF2-40B4-BE49-F238E27FC236}">
                <a16:creationId xmlns:a16="http://schemas.microsoft.com/office/drawing/2014/main" id="{EB093334-9E51-4171-A06B-DCCF6F667B51}"/>
              </a:ext>
            </a:extLst>
          </p:cNvPr>
          <p:cNvSpPr>
            <a:spLocks xmlns:a="http://schemas.openxmlformats.org/drawingml/2006/main" noGrp="1"/>
          </p:cNvSpPr>
          <p:nvPr/>
        </p:nvSpPr>
        <p:spPr>
          <a:xfrm xmlns:a="http://schemas.openxmlformats.org/drawingml/2006/main">
            <a:off x="685800" y="5476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F4F8FC"/>
                </a:solidFill>
                <a:latin typeface="DejaVu Sans"/>
                <a:ea typeface="DejaVu Sans"/>
                <a:cs typeface="DejaVu Sans"/>
              </a:defRPr>
            </a:defPPr>
          </a:lstStyle>
          <a:p xmlns:a="http://schemas.openxmlformats.org/drawingml/2006/main">
            <a:pPr>
              <a:defRPr sz="2475" b="0">
                <a:solidFill>
                  <a:srgbClr val="F4F8FC"/>
                </a:solidFill>
                <a:latin typeface="DejaVu Sans"/>
                <a:ea typeface="DejaVu Sans"/>
                <a:cs typeface="DejaVu Sans"/>
              </a:defRPr>
            </a:pPr>
            <a:r>
              <a:rPr sz="2475" b="0">
                <a:solidFill>
                  <a:srgbClr val="F4F8FC"/>
                </a:solidFill>
                <a:latin typeface="DejaVu Sans"/>
                <a:ea typeface="DejaVu Sans"/>
                <a:cs typeface="DejaVu Sans"/>
              </a:rPr>
              <a:t>Challenge: 37,500 / 610 = 61.5</a:t>
            </a:r>
          </a:p>
        </p:txBody>
      </p:sp>
      <p:sp>
        <p:nvSpPr>
          <p:cNvPr id="8" name="Unknowns and TLS offers stay outside the">
            <a:extLst xmlns:a="http://schemas.openxmlformats.org/drawingml/2006/main">
              <a:ext uri="{FF2B5EF4-FFF2-40B4-BE49-F238E27FC236}">
                <a16:creationId xmlns:a16="http://schemas.microsoft.com/office/drawing/2014/main" id="{E426FCCB-8AE0-4044-B777-C988A3EF4468}"/>
              </a:ext>
            </a:extLst>
          </p:cNvPr>
          <p:cNvSpPr>
            <a:spLocks xmlns:a="http://schemas.openxmlformats.org/drawingml/2006/main" noGrp="1"/>
          </p:cNvSpPr>
          <p:nvPr/>
        </p:nvSpPr>
        <p:spPr>
          <a:xfrm xmlns:a="http://schemas.openxmlformats.org/drawingml/2006/main">
            <a:off x="685800" y="61341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6BBCB"/>
                </a:solidFill>
                <a:latin typeface="DejaVu Sans"/>
                <a:ea typeface="DejaVu Sans"/>
                <a:cs typeface="DejaVu Sans"/>
              </a:defRPr>
            </a:defPPr>
          </a:lstStyle>
          <a:p xmlns:a="http://schemas.openxmlformats.org/drawingml/2006/main">
            <a:pPr>
              <a:defRPr sz="1800" b="0">
                <a:solidFill>
                  <a:srgbClr val="A6BBCB"/>
                </a:solidFill>
                <a:latin typeface="DejaVu Sans"/>
                <a:ea typeface="DejaVu Sans"/>
                <a:cs typeface="DejaVu Sans"/>
              </a:defRPr>
            </a:pPr>
            <a:r>
              <a:rPr sz="1800" b="0">
                <a:solidFill>
                  <a:srgbClr val="A6BBCB"/>
                </a:solidFill>
                <a:latin typeface="DejaVu Sans"/>
                <a:ea typeface="DejaVu Sans"/>
                <a:cs typeface="DejaVu Sans"/>
              </a:rPr>
              <a:t>Unknowns and TLS offers stay outside the mean.</a:t>
            </a:r>
          </a:p>
        </p:txBody>
      </p:sp>
    </p:spTree>
    <p:extLst>
      <p:ext uri="{BB962C8B-B14F-4D97-AF65-F5344CB8AC3E}">
        <p14:creationId xmlns:p14="http://schemas.microsoft.com/office/powerpoint/2010/main" val="520717259"/>
      </p:ext>
    </p:extLst>
  </p:cSld>
</p:sld>
</file>

<file path=ppt/slides/slide7.xml><?xml version="1.0" encoding="utf-8"?>
<p:sld xmlns:p="http://schemas.openxmlformats.org/presentationml/2006/main" show="0">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3FF1F0-5663-4D8A-9C89-510508E651DA}"/>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Assessment rules</a:t>
            </a:r>
          </a:p>
        </p:txBody>
      </p:sp>
      <p:graphicFrame>
        <p:nvGraphicFramePr>
          <p:cNvPr id="2" name="">
            <a:extLst xmlns:a="http://schemas.openxmlformats.org/drawingml/2006/main">
              <a:ext uri="{FF2B5EF4-FFF2-40B4-BE49-F238E27FC236}">
                <a16:creationId xmlns:a16="http://schemas.microsoft.com/office/drawing/2014/main" id="{325843A9-0F21-41E5-A5BE-44EEC9826404}"/>
              </a:ext>
            </a:extLst>
          </p:cNvPr>
          <p:cNvGraphicFramePr/>
          <p:nvPr/>
        </p:nvGraphicFramePr>
        <p:xfrm>
          <a:off xmlns:a="http://schemas.openxmlformats.org/drawingml/2006/main" x="685800" y="1743075"/>
          <a:ext xmlns:a="http://schemas.openxmlformats.org/drawingml/2006/main" cx="10820400" cy="3619500"/>
        </p:xfrm>
        <a:graphic xmlns:a="http://schemas.openxmlformats.org/drawingml/2006/main">
          <a:graphicData uri="http://schemas.openxmlformats.org/drawingml/2006/table">
            <a:tbl>
              <a:tblPr firstRow="0" bandRow="0" bandCol="0"/>
              <a:tblGrid>
                <a:gridCol w="4095750"/>
                <a:gridCol w="2790825"/>
                <a:gridCol w="3933825"/>
              </a:tblGrid>
              <a:tr h="603250">
                <a:tc>
                  <a:txBody>
                    <a:bodyPr/>
                    <a:lstStyle/>
                    <a:p>
                      <a:r>
                        <a:rPr sz="1950" b="1">
                          <a:solidFill>
                            <a:srgbClr val="52E1DF"/>
                          </a:solidFill>
                          <a:latin typeface="DejaVu Sans"/>
                          <a:ea typeface="DejaVu Sans"/>
                          <a:cs typeface="DejaVu Sans"/>
                        </a:rPr>
                        <a:t>Primitive</a:t>
                      </a:r>
                    </a:p>
                  </a:txBody>
                  <a:tcPr marL="38100" marR="171450" marT="76200" marB="76200">
                    <a:solidFill>
                      <a:srgbClr val="0B1620"/>
                    </a:solidFill>
                  </a:tcPr>
                </a:tc>
                <a:tc>
                  <a:txBody>
                    <a:bodyPr/>
                    <a:lstStyle/>
                    <a:p>
                      <a:r>
                        <a:rPr sz="1950" b="1">
                          <a:solidFill>
                            <a:srgbClr val="52E1DF"/>
                          </a:solidFill>
                          <a:latin typeface="DejaVu Sans"/>
                          <a:ea typeface="DejaVu Sans"/>
                          <a:cs typeface="DejaVu Sans"/>
                        </a:rPr>
                        <a:t>Tier</a:t>
                      </a:r>
                    </a:p>
                  </a:txBody>
                  <a:tcPr marL="38100" marR="171450" marT="76200" marB="76200">
                    <a:solidFill>
                      <a:srgbClr val="0B1620"/>
                    </a:solidFill>
                  </a:tcPr>
                </a:tc>
                <a:tc>
                  <a:txBody>
                    <a:bodyPr/>
                    <a:lstStyle/>
                    <a:p>
                      <a:r>
                        <a:rPr sz="1950" b="1">
                          <a:solidFill>
                            <a:srgbClr val="52E1DF"/>
                          </a:solidFill>
                          <a:latin typeface="DejaVu Sans"/>
                          <a:ea typeface="DejaVu Sans"/>
                          <a:cs typeface="DejaVu Sans"/>
                        </a:rPr>
                        <a:t>Basis</a:t>
                      </a:r>
                    </a:p>
                  </a:txBody>
                  <a:tcPr marL="38100" marR="171450" marT="76200" marB="76200">
                    <a:solidFill>
                      <a:srgbClr val="0B1620"/>
                    </a:solidFill>
                  </a:tcPr>
                </a:tc>
              </a:tr>
              <a:tr h="603250">
                <a:tc>
                  <a:txBody>
                    <a:bodyPr/>
                    <a:lstStyle/>
                    <a:p>
                      <a:r>
                        <a:rPr sz="1950" b="0">
                          <a:solidFill>
                            <a:srgbClr val="F4F8FC"/>
                          </a:solidFill>
                          <a:latin typeface="DejaVu Sans"/>
                          <a:ea typeface="DejaVu Sans"/>
                          <a:cs typeface="DejaVu Sans"/>
                        </a:rPr>
                        <a:t>RSA, ECDH, ECDSA</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Critical</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Shor exposure</a:t>
                      </a:r>
                    </a:p>
                  </a:txBody>
                  <a:tcPr marL="38100" marR="171450" marT="76200" marB="76200">
                    <a:solidFill>
                      <a:srgbClr val="0B1620"/>
                    </a:solidFill>
                  </a:tcPr>
                </a:tc>
              </a:tr>
              <a:tr h="603250">
                <a:tc>
                  <a:txBody>
                    <a:bodyPr/>
                    <a:lstStyle/>
                    <a:p>
                      <a:r>
                        <a:rPr sz="1950" b="0">
                          <a:solidFill>
                            <a:srgbClr val="F4F8FC"/>
                          </a:solidFill>
                          <a:latin typeface="DejaVu Sans"/>
                          <a:ea typeface="DejaVu Sans"/>
                          <a:cs typeface="DejaVu Sans"/>
                        </a:rPr>
                        <a:t>AES-128 / AES-192</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Medium</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Challenge policy</a:t>
                      </a:r>
                    </a:p>
                  </a:txBody>
                  <a:tcPr marL="38100" marR="171450" marT="76200" marB="76200">
                    <a:solidFill>
                      <a:srgbClr val="0B1620"/>
                    </a:solidFill>
                  </a:tcPr>
                </a:tc>
              </a:tr>
              <a:tr h="603250">
                <a:tc>
                  <a:txBody>
                    <a:bodyPr/>
                    <a:lstStyle/>
                    <a:p>
                      <a:r>
                        <a:rPr sz="1950" b="0">
                          <a:solidFill>
                            <a:srgbClr val="F4F8FC"/>
                          </a:solidFill>
                          <a:latin typeface="DejaVu Sans"/>
                          <a:ea typeface="DejaVu Sans"/>
                          <a:cs typeface="DejaVu Sans"/>
                        </a:rPr>
                        <a:t>AES-256, final PQC families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Resilient</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Primitive family</a:t>
                      </a:r>
                    </a:p>
                  </a:txBody>
                  <a:tcPr marL="38100" marR="171450" marT="76200" marB="76200">
                    <a:solidFill>
                      <a:srgbClr val="0B1620"/>
                    </a:solidFill>
                  </a:tcPr>
                </a:tc>
              </a:tr>
              <a:tr h="603250">
                <a:tc>
                  <a:txBody>
                    <a:bodyPr/>
                    <a:lstStyle/>
                    <a:p>
                      <a:r>
                        <a:rPr sz="1950" b="0">
                          <a:solidFill>
                            <a:srgbClr val="F4F8FC"/>
                          </a:solidFill>
                          <a:latin typeface="DejaVu Sans"/>
                          <a:ea typeface="DejaVu Sans"/>
                          <a:cs typeface="DejaVu Sans"/>
                        </a:rPr>
                        <a:t>Hashes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Context dependent</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Project extension</a:t>
                      </a:r>
                    </a:p>
                  </a:txBody>
                  <a:tcPr marL="38100" marR="171450" marT="76200" marB="76200">
                    <a:solidFill>
                      <a:srgbClr val="0B1620"/>
                    </a:solidFill>
                  </a:tcPr>
                </a:tc>
              </a:tr>
              <a:tr h="603250">
                <a:tc>
                  <a:txBody>
                    <a:bodyPr/>
                    <a:lstStyle/>
                    <a:p>
                      <a:r>
                        <a:rPr sz="1950" b="0">
                          <a:solidFill>
                            <a:srgbClr val="F4F8FC"/>
                          </a:solidFill>
                          <a:latin typeface="DejaVu Sans"/>
                          <a:ea typeface="DejaVu Sans"/>
                          <a:cs typeface="DejaVu Sans"/>
                        </a:rPr>
                        <a:t>HMAC and password KDFs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Needs review</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Secret / construction review</a:t>
                      </a:r>
                    </a:p>
                  </a:txBody>
                  <a:tcPr marL="38100" marR="171450" marT="76200" marB="76200">
                    <a:solidFill>
                      <a:srgbClr val="0B1620"/>
                    </a:solidFill>
                  </a:tcPr>
                </a:tc>
              </a:tr>
            </a:tbl>
          </a:graphicData>
        </a:graphic>
      </p:graphicFrame>
      <p:sp>
        <p:nvSpPr>
          <p:cNvPr id="3" name="Hash rules use ideal query models and a ">
            <a:extLst xmlns:a="http://schemas.openxmlformats.org/drawingml/2006/main">
              <a:ext uri="{FF2B5EF4-FFF2-40B4-BE49-F238E27FC236}">
                <a16:creationId xmlns:a16="http://schemas.microsoft.com/office/drawing/2014/main" id="{72D753E4-7213-44DB-9FFA-7C8DC305DBE1}"/>
              </a:ext>
            </a:extLst>
          </p:cNvPr>
          <p:cNvSpPr>
            <a:spLocks xmlns:a="http://schemas.openxmlformats.org/drawingml/2006/main" noGrp="1"/>
          </p:cNvSpPr>
          <p:nvPr/>
        </p:nvSpPr>
        <p:spPr>
          <a:xfrm xmlns:a="http://schemas.openxmlformats.org/drawingml/2006/main">
            <a:off x="685800" y="5781675"/>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E1DF"/>
                </a:solidFill>
                <a:latin typeface="DejaVu Sans"/>
                <a:ea typeface="DejaVu Sans"/>
                <a:cs typeface="DejaVu Sans"/>
              </a:defRPr>
            </a:defPPr>
          </a:lstStyle>
          <a:p xmlns:a="http://schemas.openxmlformats.org/drawingml/2006/main">
            <a:pPr>
              <a:defRPr sz="1950" b="0">
                <a:solidFill>
                  <a:srgbClr val="52E1DF"/>
                </a:solidFill>
                <a:latin typeface="DejaVu Sans"/>
                <a:ea typeface="DejaVu Sans"/>
                <a:cs typeface="DejaVu Sans"/>
              </a:defRPr>
            </a:pPr>
            <a:r>
              <a:rPr sz="1950" b="0">
                <a:solidFill>
                  <a:srgbClr val="52E1DF"/>
                </a:solidFill>
                <a:latin typeface="DejaVu Sans"/>
                <a:ea typeface="DejaVu Sans"/>
                <a:cs typeface="DejaVu Sans"/>
              </a:rPr>
              <a:t>Hash rules use ideal query models and a project target of 128 bits</a:t>
            </a:r>
          </a:p>
        </p:txBody>
      </p:sp>
      <p:sp>
        <p:nvSpPr>
          <p:cNvPr id="4" name="The model does not estimate practical at">
            <a:extLst xmlns:a="http://schemas.openxmlformats.org/drawingml/2006/main">
              <a:ext uri="{FF2B5EF4-FFF2-40B4-BE49-F238E27FC236}">
                <a16:creationId xmlns:a16="http://schemas.microsoft.com/office/drawing/2014/main" id="{66796150-5CEF-420E-8610-71D806DC2C23}"/>
              </a:ext>
            </a:extLst>
          </p:cNvPr>
          <p:cNvSpPr>
            <a:spLocks xmlns:a="http://schemas.openxmlformats.org/drawingml/2006/main" noGrp="1"/>
          </p:cNvSpPr>
          <p:nvPr/>
        </p:nvSpPr>
        <p:spPr>
          <a:xfrm xmlns:a="http://schemas.openxmlformats.org/drawingml/2006/main">
            <a:off x="685800" y="64770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The model does not estimate practical attack time or assign NIST categories.</a:t>
            </a:r>
          </a:p>
        </p:txBody>
      </p:sp>
    </p:spTree>
    <p:extLst>
      <p:ext uri="{BB962C8B-B14F-4D97-AF65-F5344CB8AC3E}">
        <p14:creationId xmlns:p14="http://schemas.microsoft.com/office/powerpoint/2010/main" val="652148774"/>
      </p:ext>
    </p:extLst>
  </p:cSld>
</p:sld>
</file>

<file path=ppt/slides/slide8.xml><?xml version="1.0" encoding="utf-8"?>
<p:sld xmlns:p="http://schemas.openxmlformats.org/presentationml/2006/main" show="0">
  <p:cSld>
    <p:bg>
      <p:bgPr>
        <a:solidFill xmlns:a="http://schemas.openxmlformats.org/drawingml/2006/main">
          <a:srgbClr val="0B16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1F55D1-2DFB-4808-B781-6AE19FC9CBE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4F8FC"/>
                </a:solidFill>
                <a:latin typeface="DejaVu Sans"/>
                <a:ea typeface="DejaVu Sans"/>
                <a:cs typeface="DejaVu Sans"/>
              </a:defRPr>
            </a:defPPr>
          </a:lstStyle>
          <a:p xmlns:a="http://schemas.openxmlformats.org/drawingml/2006/main">
            <a:pPr>
              <a:defRPr sz="3600" b="1">
                <a:solidFill>
                  <a:srgbClr val="F4F8FC"/>
                </a:solidFill>
                <a:latin typeface="DejaVu Sans"/>
                <a:ea typeface="DejaVu Sans"/>
                <a:cs typeface="DejaVu Sans"/>
              </a:defRPr>
            </a:pPr>
            <a:r>
              <a:rPr sz="3600" b="1">
                <a:solidFill>
                  <a:srgbClr val="F4F8FC"/>
                </a:solidFill>
                <a:latin typeface="DejaVu Sans"/>
                <a:ea typeface="DejaVu Sans"/>
                <a:cs typeface="DejaVu Sans"/>
              </a:rPr>
              <a:t>TLS offers and hybrid groups</a:t>
            </a:r>
          </a:p>
        </p:txBody>
      </p:sp>
      <p:sp>
        <p:nvSpPr>
          <p:cNvPr id="2" name="page-number">
            <a:extLst xmlns:a="http://schemas.openxmlformats.org/drawingml/2006/main">
              <a:ext uri="{FF2B5EF4-FFF2-40B4-BE49-F238E27FC236}">
                <a16:creationId xmlns:a16="http://schemas.microsoft.com/office/drawing/2014/main" id="{A09096B2-0011-4C5D-BAA1-CC5D3C72B13B}"/>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6BBCB"/>
                </a:solidFill>
                <a:latin typeface="DejaVu Sans"/>
                <a:ea typeface="DejaVu Sans"/>
                <a:cs typeface="DejaVu Sans"/>
              </a:defRPr>
            </a:defPPr>
          </a:lstStyle>
          <a:p xmlns:a="http://schemas.openxmlformats.org/drawingml/2006/main">
            <a:pPr>
              <a:defRPr sz="1500" b="0">
                <a:solidFill>
                  <a:srgbClr val="A6BBCB"/>
                </a:solidFill>
                <a:latin typeface="DejaVu Sans"/>
                <a:ea typeface="DejaVu Sans"/>
                <a:cs typeface="DejaVu Sans"/>
              </a:defRPr>
            </a:pPr>
            <a:r>
              <a:rPr sz="1500" b="0">
                <a:solidFill>
                  <a:srgbClr val="A6BBCB"/>
                </a:solidFill>
                <a:latin typeface="DejaVu Sans"/>
                <a:ea typeface="DejaVu Sans"/>
                <a:cs typeface="DejaVu Sans"/>
              </a:rPr>
              <a:t>8</a:t>
            </a:r>
          </a:p>
        </p:txBody>
      </p:sp>
      <p:sp>
        <p:nvSpPr>
          <p:cNvPr id="3" name="97 sessions with ServerHello. 7 selected">
            <a:extLst xmlns:a="http://schemas.openxmlformats.org/drawingml/2006/main">
              <a:ext uri="{FF2B5EF4-FFF2-40B4-BE49-F238E27FC236}">
                <a16:creationId xmlns:a16="http://schemas.microsoft.com/office/drawing/2014/main" id="{7C6DAA27-A831-4072-87B9-B50DBDA36FD4}"/>
              </a:ext>
            </a:extLst>
          </p:cNvPr>
          <p:cNvSpPr>
            <a:spLocks xmlns:a="http://schemas.openxmlformats.org/drawingml/2006/main" noGrp="1"/>
          </p:cNvSpPr>
          <p:nvPr/>
        </p:nvSpPr>
        <p:spPr>
          <a:xfrm xmlns:a="http://schemas.openxmlformats.org/drawingml/2006/main">
            <a:off x="685800" y="16859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52E1DF"/>
                </a:solidFill>
                <a:latin typeface="DejaVu Sans"/>
                <a:ea typeface="DejaVu Sans"/>
                <a:cs typeface="DejaVu Sans"/>
              </a:defRPr>
            </a:defPPr>
          </a:lstStyle>
          <a:p xmlns:a="http://schemas.openxmlformats.org/drawingml/2006/main">
            <a:pPr>
              <a:defRPr sz="2475" b="0">
                <a:solidFill>
                  <a:srgbClr val="52E1DF"/>
                </a:solidFill>
                <a:latin typeface="DejaVu Sans"/>
                <a:ea typeface="DejaVu Sans"/>
                <a:cs typeface="DejaVu Sans"/>
              </a:defRPr>
            </a:pPr>
            <a:r>
              <a:rPr sz="2475" b="0">
                <a:solidFill>
                  <a:srgbClr val="52E1DF"/>
                </a:solidFill>
                <a:latin typeface="DejaVu Sans"/>
                <a:ea typeface="DejaVu Sans"/>
                <a:cs typeface="DejaVu Sans"/>
              </a:rPr>
              <a:t>97 sessions with ServerHello. 7 selected hybrid groups.</a:t>
            </a:r>
          </a:p>
        </p:txBody>
      </p:sp>
      <p:graphicFrame>
        <p:nvGraphicFramePr>
          <p:cNvPr id="4" name="">
            <a:extLst xmlns:a="http://schemas.openxmlformats.org/drawingml/2006/main">
              <a:ext uri="{FF2B5EF4-FFF2-40B4-BE49-F238E27FC236}">
                <a16:creationId xmlns:a16="http://schemas.microsoft.com/office/drawing/2014/main" id="{1BE02D57-2818-4C5C-9C3B-0888BCA69687}"/>
              </a:ext>
            </a:extLst>
          </p:cNvPr>
          <p:cNvGraphicFramePr/>
          <p:nvPr/>
        </p:nvGraphicFramePr>
        <p:xfrm>
          <a:off xmlns:a="http://schemas.openxmlformats.org/drawingml/2006/main" x="685800" y="2600325"/>
          <a:ext xmlns:a="http://schemas.openxmlformats.org/drawingml/2006/main" cx="10820400" cy="2733675"/>
        </p:xfrm>
        <a:graphic xmlns:a="http://schemas.openxmlformats.org/drawingml/2006/main">
          <a:graphicData uri="http://schemas.openxmlformats.org/drawingml/2006/table">
            <a:tbl>
              <a:tblPr firstRow="0" bandRow="0" bandCol="0"/>
              <a:tblGrid>
                <a:gridCol w="3286125"/>
                <a:gridCol w="3152775"/>
                <a:gridCol w="4381500"/>
              </a:tblGrid>
              <a:tr h="683419">
                <a:tc>
                  <a:txBody>
                    <a:bodyPr/>
                    <a:lstStyle/>
                    <a:p>
                      <a:r>
                        <a:rPr sz="1950" b="1">
                          <a:solidFill>
                            <a:srgbClr val="52E1DF"/>
                          </a:solidFill>
                          <a:latin typeface="DejaVu Sans"/>
                          <a:ea typeface="DejaVu Sans"/>
                          <a:cs typeface="DejaVu Sans"/>
                        </a:rPr>
                        <a:t>Evidence</a:t>
                      </a:r>
                    </a:p>
                  </a:txBody>
                  <a:tcPr marL="38100" marR="171450" marT="76200" marB="76200">
                    <a:solidFill>
                      <a:srgbClr val="0B1620"/>
                    </a:solidFill>
                  </a:tcPr>
                </a:tc>
                <a:tc>
                  <a:txBody>
                    <a:bodyPr/>
                    <a:lstStyle/>
                    <a:p>
                      <a:r>
                        <a:rPr sz="1950" b="1">
                          <a:solidFill>
                            <a:srgbClr val="52E1DF"/>
                          </a:solidFill>
                          <a:latin typeface="DejaVu Sans"/>
                          <a:ea typeface="DejaVu Sans"/>
                          <a:cs typeface="DejaVu Sans"/>
                        </a:rPr>
                        <a:t>Inventory status</a:t>
                      </a:r>
                    </a:p>
                  </a:txBody>
                  <a:tcPr marL="38100" marR="171450" marT="76200" marB="76200">
                    <a:solidFill>
                      <a:srgbClr val="0B1620"/>
                    </a:solidFill>
                  </a:tcPr>
                </a:tc>
                <a:tc>
                  <a:txBody>
                    <a:bodyPr/>
                    <a:lstStyle/>
                    <a:p>
                      <a:r>
                        <a:rPr sz="1950" b="1">
                          <a:solidFill>
                            <a:srgbClr val="52E1DF"/>
                          </a:solidFill>
                          <a:latin typeface="DejaVu Sans"/>
                          <a:ea typeface="DejaVu Sans"/>
                          <a:cs typeface="DejaVu Sans"/>
                        </a:rPr>
                        <a:t>Interpretation</a:t>
                      </a:r>
                    </a:p>
                  </a:txBody>
                  <a:tcPr marL="38100" marR="171450" marT="76200" marB="76200">
                    <a:solidFill>
                      <a:srgbClr val="0B1620"/>
                    </a:solidFill>
                  </a:tcPr>
                </a:tc>
              </a:tr>
              <a:tr h="683419">
                <a:tc>
                  <a:txBody>
                    <a:bodyPr/>
                    <a:lstStyle/>
                    <a:p>
                      <a:r>
                        <a:rPr sz="1950" b="0">
                          <a:solidFill>
                            <a:srgbClr val="F4F8FC"/>
                          </a:solidFill>
                          <a:latin typeface="DejaVu Sans"/>
                          <a:ea typeface="DejaVu Sans"/>
                          <a:cs typeface="DejaVu Sans"/>
                        </a:rPr>
                        <a:t>ClientHello options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Offered</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No proof of selection</a:t>
                      </a:r>
                    </a:p>
                  </a:txBody>
                  <a:tcPr marL="38100" marR="171450" marT="76200" marB="76200">
                    <a:solidFill>
                      <a:srgbClr val="0B1620"/>
                    </a:solidFill>
                  </a:tcPr>
                </a:tc>
              </a:tr>
              <a:tr h="683419">
                <a:tc>
                  <a:txBody>
                    <a:bodyPr/>
                    <a:lstStyle/>
                    <a:p>
                      <a:r>
                        <a:rPr sz="1950" b="0">
                          <a:solidFill>
                            <a:srgbClr val="F4F8FC"/>
                          </a:solidFill>
                          <a:latin typeface="DejaVu Sans"/>
                          <a:ea typeface="DejaVu Sans"/>
                          <a:cs typeface="DejaVu Sans"/>
                        </a:rPr>
                        <a:t>ServerHello fields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Negotiated</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Selected supported mechanism</a:t>
                      </a:r>
                    </a:p>
                  </a:txBody>
                  <a:tcPr marL="38100" marR="171450" marT="76200" marB="76200">
                    <a:solidFill>
                      <a:srgbClr val="0B1620"/>
                    </a:solidFill>
                  </a:tcPr>
                </a:tc>
              </a:tr>
              <a:tr h="683419">
                <a:tc>
                  <a:txBody>
                    <a:bodyPr/>
                    <a:lstStyle/>
                    <a:p>
                      <a:r>
                        <a:rPr sz="1950" b="0">
                          <a:solidFill>
                            <a:srgbClr val="F4F8FC"/>
                          </a:solidFill>
                          <a:latin typeface="DejaVu Sans"/>
                          <a:ea typeface="DejaVu Sans"/>
                          <a:cs typeface="DejaVu Sans"/>
                        </a:rPr>
                        <a:t>X25519MLKEM768</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Both components</a:t>
                      </a:r>
                    </a:p>
                  </a:txBody>
                  <a:tcPr marL="38100" marR="171450" marT="76200" marB="76200">
                    <a:solidFill>
                      <a:srgbClr val="0B1620"/>
                    </a:solidFill>
                  </a:tcPr>
                </a:tc>
                <a:tc>
                  <a:txBody>
                    <a:bodyPr/>
                    <a:lstStyle/>
                    <a:p>
                      <a:r>
                        <a:rPr sz="1950" b="0">
                          <a:solidFill>
                            <a:srgbClr val="F4F8FC"/>
                          </a:solidFill>
                          <a:latin typeface="DejaVu Sans"/>
                          <a:ea typeface="DejaVu Sans"/>
                          <a:cs typeface="DejaVu Sans"/>
                        </a:rPr>
                        <a:t>Combined mechanism needs review</a:t>
                      </a:r>
                    </a:p>
                  </a:txBody>
                  <a:tcPr marL="38100" marR="171450" marT="76200" marB="76200">
                    <a:solidFill>
                      <a:srgbClr val="0B1620"/>
                    </a:solidFill>
                  </a:tcPr>
                </a:tc>
              </a:tr>
            </a:tbl>
          </a:graphicData>
        </a:graphic>
      </p:graphicFrame>
      <p:sp>
        <p:nvSpPr>
          <p:cNvPr id="5" name="A critical classical component does not ">
            <a:extLst xmlns:a="http://schemas.openxmlformats.org/drawingml/2006/main">
              <a:ext uri="{FF2B5EF4-FFF2-40B4-BE49-F238E27FC236}">
                <a16:creationId xmlns:a16="http://schemas.microsoft.com/office/drawing/2014/main" id="{FF990BA4-05AC-400D-97F1-05D42C97665A}"/>
              </a:ext>
            </a:extLst>
          </p:cNvPr>
          <p:cNvSpPr>
            <a:spLocks xmlns:a="http://schemas.openxmlformats.org/drawingml/2006/main" noGrp="1"/>
          </p:cNvSpPr>
          <p:nvPr/>
        </p:nvSpPr>
        <p:spPr>
          <a:xfrm xmlns:a="http://schemas.openxmlformats.org/drawingml/2006/main">
            <a:off x="685800" y="5981700"/>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6BBCB"/>
                </a:solidFill>
                <a:latin typeface="DejaVu Sans"/>
                <a:ea typeface="DejaVu Sans"/>
                <a:cs typeface="DejaVu Sans"/>
              </a:defRPr>
            </a:defPPr>
          </a:lstStyle>
          <a:p xmlns:a="http://schemas.openxmlformats.org/drawingml/2006/main">
            <a:pPr>
              <a:defRPr sz="2025" b="0">
                <a:solidFill>
                  <a:srgbClr val="A6BBCB"/>
                </a:solidFill>
                <a:latin typeface="DejaVu Sans"/>
                <a:ea typeface="DejaVu Sans"/>
                <a:cs typeface="DejaVu Sans"/>
              </a:defRPr>
            </a:pPr>
            <a:r>
              <a:rPr sz="2025" b="0">
                <a:solidFill>
                  <a:srgbClr val="A6BBCB"/>
                </a:solidFill>
                <a:latin typeface="DejaVu Sans"/>
                <a:ea typeface="DejaVu Sans"/>
                <a:cs typeface="DejaVu Sans"/>
              </a:rPr>
              <a:t>A critical classical component does not prove the hybrid is broken</a:t>
            </a:r>
          </a:p>
        </p:txBody>
      </p:sp>
    </p:spTree>
    <p:extLst>
      <p:ext uri="{BB962C8B-B14F-4D97-AF65-F5344CB8AC3E}">
        <p14:creationId xmlns:p14="http://schemas.microsoft.com/office/powerpoint/2010/main" val="1128629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2026-10-10T21:37:53.0750000Z</dcterms:created>
  <dcterms:modified xsi:type="dcterms:W3CDTF">2026-10-10T21:37:53.0750000Z</dcterms:modified>
</coreProperties>
</file>